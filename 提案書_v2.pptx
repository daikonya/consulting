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A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623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931920" y="0"/>
            <a:ext cx="54864" cy="6858000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06240" y="6400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88070"/>
                </a:solidFill>
                <a:latin typeface="Yu Gothic"/>
              </a:rPr>
              <a:t>Business Proposal  /  2026.05.07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188720"/>
            <a:ext cx="7680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>
                <a:solidFill>
                  <a:srgbClr val="FFFFFF"/>
                </a:solidFill>
                <a:latin typeface="Yu Mincho"/>
              </a:rPr>
              <a:t>旅館・飲食業
コンサルティング
ブランディング戦略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0" y="402336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AA090"/>
                </a:solidFill>
                <a:latin typeface="Yu Gothic"/>
              </a:rPr>
              <a:t>Web戦略 / 集客設計 / サポートプランのご提案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6459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935A"/>
                </a:solidFill>
                <a:latin typeface="Yu Gothic"/>
              </a:rPr>
              <a:t>提案先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96596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Yu Mincho"/>
              </a:rPr>
              <a:t>小野 順平 氏
株式会社TOJISM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30175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935A"/>
                </a:solidFill>
                <a:latin typeface="Yu Gothic"/>
              </a:rPr>
              <a:t>提案者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333756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Yu Gothic"/>
              </a:rPr>
              <a:t>合同会社Brain
鵜木 芳文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" y="4846320"/>
            <a:ext cx="3383280" cy="1691640"/>
          </a:xfrm>
          <a:prstGeom prst="rect">
            <a:avLst/>
          </a:prstGeom>
          <a:solidFill>
            <a:srgbClr val="282622"/>
          </a:solidFill>
          <a:ln w="9525">
            <a:solidFill>
              <a:srgbClr val="B893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498348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935A"/>
                </a:solidFill>
                <a:latin typeface="Yu Gothic"/>
              </a:rPr>
              <a:t>本日のゴール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5321808"/>
            <a:ext cx="3017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Yu Gothic"/>
              </a:rPr>
              <a:t>コンサルブランドの方向性に合意し
具体的な支援プランを決定する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34747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935A"/>
                </a:solidFill>
                <a:latin typeface="Yu Gothic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C1A16"/>
                </a:solidFill>
                <a:latin typeface="Yu Mincho"/>
              </a:rPr>
              <a:t>本日のアジェンダ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61872"/>
            <a:ext cx="292608" cy="22860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463040"/>
            <a:ext cx="11731752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600200"/>
            <a:ext cx="640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B8935A"/>
                </a:solidFill>
                <a:latin typeface="Yu Mincho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81912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C1A16"/>
                </a:solidFill>
                <a:latin typeface="Yu Gothic"/>
              </a:rPr>
              <a:t>ブランディング戦略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01168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359"/>
                </a:solidFill>
                <a:latin typeface="Yu Gothic"/>
              </a:rPr>
              <a:t>ポジショニング・ターゲット・差別化軸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241280" y="1810512"/>
            <a:ext cx="1463040" cy="329184"/>
          </a:xfrm>
          <a:prstGeom prst="rect">
            <a:avLst/>
          </a:prstGeom>
          <a:solidFill>
            <a:srgbClr val="999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0" y="1874520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Yu Gothic"/>
              </a:rPr>
              <a:t>15 min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2651760"/>
            <a:ext cx="11731752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2788920"/>
            <a:ext cx="640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B8935A"/>
                </a:solidFill>
                <a:latin typeface="Yu Mincho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2770632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C1A16"/>
                </a:solidFill>
                <a:latin typeface="Yu Gothic"/>
              </a:rPr>
              <a:t>Web戦略・集客ファネル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20040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359"/>
                </a:solidFill>
                <a:latin typeface="Yu Gothic"/>
              </a:rPr>
              <a:t>LP / 公式LINE / マーケ計画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0" y="2999232"/>
            <a:ext cx="1463040" cy="329184"/>
          </a:xfrm>
          <a:prstGeom prst="rect">
            <a:avLst/>
          </a:prstGeom>
          <a:solidFill>
            <a:srgbClr val="999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0" y="3063240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Yu Gothic"/>
              </a:rPr>
              <a:t>15 min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8600" y="3840480"/>
            <a:ext cx="11731752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3977640"/>
            <a:ext cx="640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B8935A"/>
                </a:solidFill>
                <a:latin typeface="Yu Mincho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959352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C1A16"/>
                </a:solidFill>
                <a:latin typeface="Yu Gothic"/>
              </a:rPr>
              <a:t>サービスプラン比較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438912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359"/>
                </a:solidFill>
                <a:latin typeface="Yu Gothic"/>
              </a:rPr>
              <a:t>ライト / スタンダード / プレミアム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241280" y="4187952"/>
            <a:ext cx="1463040" cy="329184"/>
          </a:xfrm>
          <a:prstGeom prst="rect">
            <a:avLst/>
          </a:prstGeom>
          <a:solidFill>
            <a:srgbClr val="999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41280" y="4251960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Yu Gothic"/>
              </a:rPr>
              <a:t>10 min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8600" y="5029200"/>
            <a:ext cx="11731752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5166360"/>
            <a:ext cx="640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B8935A"/>
                </a:solidFill>
                <a:latin typeface="Yu Mincho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5148072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C1A16"/>
                </a:solidFill>
                <a:latin typeface="Yu Gothic"/>
              </a:rPr>
              <a:t>サービス詳細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557784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359"/>
                </a:solidFill>
                <a:latin typeface="Yu Gothic"/>
              </a:rPr>
              <a:t>LP / LINE / ブランディング / マーケ / SNS / AI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241280" y="5376672"/>
            <a:ext cx="1463040" cy="329184"/>
          </a:xfrm>
          <a:prstGeom prst="rect">
            <a:avLst/>
          </a:prstGeom>
          <a:solidFill>
            <a:srgbClr val="999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241280" y="5440680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Yu Gothic"/>
              </a:rPr>
              <a:t>30 min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A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34747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935A"/>
                </a:solidFill>
                <a:latin typeface="Yu Gothic"/>
              </a:rPr>
              <a:t>01 -- BRANDING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Yu Mincho"/>
              </a:rPr>
              <a:t>ターゲット戦略：2つの顧客像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61872"/>
            <a:ext cx="292608" cy="22860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417320"/>
            <a:ext cx="5669280" cy="4114800"/>
          </a:xfrm>
          <a:prstGeom prst="rect">
            <a:avLst/>
          </a:prstGeom>
          <a:solidFill>
            <a:srgbClr val="22201C"/>
          </a:solidFill>
          <a:ln w="19050">
            <a:solidFill>
              <a:srgbClr val="B893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572768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935A"/>
                </a:solidFill>
                <a:latin typeface="Yu Gothic"/>
              </a:rPr>
              <a:t>TARGET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874519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Yu Mincho"/>
              </a:rPr>
              <a:t>経営改善・集客強化を
求めるオーナー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962656"/>
            <a:ext cx="64008" cy="64008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898648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5B8"/>
                </a:solidFill>
                <a:latin typeface="Yu Gothic"/>
              </a:rPr>
              <a:t>売上・集客に課題を感じている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3465576"/>
            <a:ext cx="64008" cy="64008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3401568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5B8"/>
                </a:solidFill>
                <a:latin typeface="Yu Gothic"/>
              </a:rPr>
              <a:t>予約サイト依存から脱却したい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968496"/>
            <a:ext cx="64008" cy="64008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904488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5B8"/>
                </a:solidFill>
                <a:latin typeface="Yu Gothic"/>
              </a:rPr>
              <a:t>AIやDXを導入したいが方法がわからない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4471416"/>
            <a:ext cx="64008" cy="64008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4407408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5B8"/>
                </a:solidFill>
                <a:latin typeface="Yu Gothic"/>
              </a:rPr>
              <a:t>人材採用・定着に悩んでいる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1417320"/>
            <a:ext cx="5833872" cy="4114800"/>
          </a:xfrm>
          <a:prstGeom prst="rect">
            <a:avLst/>
          </a:prstGeom>
          <a:solidFill>
            <a:srgbClr val="182A22"/>
          </a:solidFill>
          <a:ln w="19050">
            <a:solidFill>
              <a:srgbClr val="1A7A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1417320"/>
            <a:ext cx="1371600" cy="411480"/>
          </a:xfrm>
          <a:prstGeom prst="rect">
            <a:avLst/>
          </a:prstGeom>
          <a:solidFill>
            <a:srgbClr val="1A7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1481328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1C1A16"/>
                </a:solidFill>
                <a:latin typeface="Yu Gothic"/>
              </a:rPr>
              <a:t>NEW TARGET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35240" y="157276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A7A5E"/>
                </a:solidFill>
                <a:latin typeface="Yu Gothic"/>
              </a:rPr>
              <a:t>TARGET 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874519"/>
            <a:ext cx="539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Yu Mincho"/>
              </a:rPr>
              <a:t>事業承継・出口戦略を
検討している経営者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2962656"/>
            <a:ext cx="64008" cy="64008"/>
          </a:xfrm>
          <a:prstGeom prst="rect">
            <a:avLst/>
          </a:prstGeom>
          <a:solidFill>
            <a:srgbClr val="1A7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2898648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5B8"/>
                </a:solidFill>
                <a:latin typeface="Yu Gothic"/>
              </a:rPr>
              <a:t>後継者がおらず廃業を検討している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60" y="3465576"/>
            <a:ext cx="64008" cy="64008"/>
          </a:xfrm>
          <a:prstGeom prst="rect">
            <a:avLst/>
          </a:prstGeom>
          <a:solidFill>
            <a:srgbClr val="1A7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3401568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5B8"/>
                </a:solidFill>
                <a:latin typeface="Yu Gothic"/>
              </a:rPr>
              <a:t>M&amp;A・第三者承継に興味があるが手続きがわからない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3968496"/>
            <a:ext cx="64008" cy="64008"/>
          </a:xfrm>
          <a:prstGeom prst="rect">
            <a:avLst/>
          </a:prstGeom>
          <a:solidFill>
            <a:srgbClr val="1A7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3904488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5B8"/>
                </a:solidFill>
                <a:latin typeface="Yu Gothic"/>
              </a:rPr>
              <a:t>引退前に施設の価値を最大化したい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4471416"/>
            <a:ext cx="64008" cy="64008"/>
          </a:xfrm>
          <a:prstGeom prst="rect">
            <a:avLst/>
          </a:prstGeom>
          <a:solidFill>
            <a:srgbClr val="1A7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0" y="4407408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5B8"/>
                </a:solidFill>
                <a:latin typeface="Yu Gothic"/>
              </a:rPr>
              <a:t>従業員の雇用を守りながら事業を継続させたい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8600" y="5650992"/>
            <a:ext cx="11731752" cy="1005840"/>
          </a:xfrm>
          <a:prstGeom prst="rect">
            <a:avLst/>
          </a:prstGeom>
          <a:solidFill>
            <a:srgbClr val="2623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" y="574243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935A"/>
                </a:solidFill>
                <a:latin typeface="Yu Gothic"/>
              </a:rPr>
              <a:t>市場規模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" y="603504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88070"/>
                </a:solidFill>
                <a:latin typeface="Yu Gothic"/>
              </a:rPr>
              <a:t>飲食店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6291072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Yu Gothic"/>
              </a:rPr>
              <a:t>約60万店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91840" y="603504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88070"/>
                </a:solidFill>
                <a:latin typeface="Yu Gothic"/>
              </a:rPr>
              <a:t>旅館・ホテル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91840" y="6291072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Yu Gothic"/>
              </a:rPr>
              <a:t>約5万施設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72200" y="603504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88070"/>
                </a:solidFill>
                <a:latin typeface="Yu Gothic"/>
              </a:rPr>
              <a:t>経営者60歳以上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72200" y="6291072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Yu Gothic"/>
              </a:rPr>
              <a:t>飲食業 約55%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52560" y="603504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88070"/>
                </a:solidFill>
                <a:latin typeface="Yu Gothic"/>
              </a:rPr>
              <a:t>事業承継課題あり（推計）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52560" y="6291072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Yu Gothic"/>
              </a:rPr>
              <a:t>約25万事業者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50992" y="31546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555048"/>
                </a:solidFill>
                <a:latin typeface="Yu Gothic"/>
              </a:rPr>
              <a:t>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530352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8070"/>
                </a:solidFill>
                <a:latin typeface="Yu Gothic"/>
              </a:rPr>
              <a:t>対象者が広がることで
専門性も高まる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A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34747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935A"/>
                </a:solidFill>
                <a:latin typeface="Yu Gothic"/>
              </a:rPr>
              <a:t>VISION -- 1年後の姿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Yu Mincho"/>
              </a:rPr>
              <a:t>Brain支援後、12ヶ月で何が変わるか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61872"/>
            <a:ext cx="292608" cy="22860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444752"/>
            <a:ext cx="5394960" cy="457200"/>
          </a:xfrm>
          <a:prstGeom prst="rect">
            <a:avLst/>
          </a:prstGeom>
          <a:solidFill>
            <a:srgbClr val="333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1517904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B6359"/>
                </a:solidFill>
                <a:latin typeface="Yu Gothic"/>
              </a:rPr>
              <a:t>現在（Before）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444752"/>
            <a:ext cx="5394960" cy="457200"/>
          </a:xfrm>
          <a:prstGeom prst="rect">
            <a:avLst/>
          </a:prstGeom>
          <a:solidFill>
            <a:srgbClr val="182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0" y="1517904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A7A5E"/>
                </a:solidFill>
                <a:latin typeface="Yu Gothic"/>
              </a:rPr>
              <a:t>12ヶ月後（After）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1993392"/>
            <a:ext cx="1417320" cy="694944"/>
          </a:xfrm>
          <a:prstGeom prst="rect">
            <a:avLst/>
          </a:prstGeom>
          <a:solidFill>
            <a:srgbClr val="22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2608" y="2194560"/>
            <a:ext cx="1280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6B6359"/>
                </a:solidFill>
                <a:latin typeface="Yu Gothic"/>
              </a:rPr>
              <a:t>クライアント獲得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91640" y="1993392"/>
            <a:ext cx="4251960" cy="694944"/>
          </a:xfrm>
          <a:prstGeom prst="rect">
            <a:avLst/>
          </a:prstGeom>
          <a:solidFill>
            <a:srgbClr val="2623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0" y="2194560"/>
            <a:ext cx="3931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77065"/>
                </a:solidFill>
                <a:latin typeface="Yu Gothic"/>
              </a:rPr>
              <a:t>口コミ・紹介のみ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89320" y="2194560"/>
            <a:ext cx="20116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B8935A"/>
                </a:solidFill>
                <a:latin typeface="Yu Gothic"/>
              </a:rPr>
              <a:t>-&gt;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6208" y="1993392"/>
            <a:ext cx="5632704" cy="694944"/>
          </a:xfrm>
          <a:prstGeom prst="rect">
            <a:avLst/>
          </a:prstGeom>
          <a:solidFill>
            <a:srgbClr val="142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73368" y="2194560"/>
            <a:ext cx="5303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DDAA"/>
                </a:solidFill>
                <a:latin typeface="Yu Gothic"/>
              </a:rPr>
              <a:t>LP+LINE+SNSで継続的に獲得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" y="2743200"/>
            <a:ext cx="1417320" cy="694944"/>
          </a:xfrm>
          <a:prstGeom prst="rect">
            <a:avLst/>
          </a:prstGeom>
          <a:solidFill>
            <a:srgbClr val="22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2608" y="2944368"/>
            <a:ext cx="1280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6B6359"/>
                </a:solidFill>
                <a:latin typeface="Yu Gothic"/>
              </a:rPr>
              <a:t>月間新規相談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691640" y="2743200"/>
            <a:ext cx="4251960" cy="694944"/>
          </a:xfrm>
          <a:prstGeom prst="rect">
            <a:avLst/>
          </a:prstGeom>
          <a:solidFill>
            <a:srgbClr val="2623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28800" y="2944368"/>
            <a:ext cx="3931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77065"/>
                </a:solidFill>
                <a:latin typeface="Yu Gothic"/>
              </a:rPr>
              <a:t>0〜1件（不定期）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2944368"/>
            <a:ext cx="20116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B8935A"/>
                </a:solidFill>
                <a:latin typeface="Yu Gothic"/>
              </a:rPr>
              <a:t>-&gt;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36208" y="2743200"/>
            <a:ext cx="5632704" cy="694944"/>
          </a:xfrm>
          <a:prstGeom prst="rect">
            <a:avLst/>
          </a:prstGeom>
          <a:solidFill>
            <a:srgbClr val="142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73368" y="2944368"/>
            <a:ext cx="5303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DDAA"/>
                </a:solidFill>
                <a:latin typeface="Yu Gothic"/>
              </a:rPr>
              <a:t>月1〜2件のペースに安定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8600" y="3493008"/>
            <a:ext cx="1417320" cy="694944"/>
          </a:xfrm>
          <a:prstGeom prst="rect">
            <a:avLst/>
          </a:prstGeom>
          <a:solidFill>
            <a:srgbClr val="22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2608" y="3694176"/>
            <a:ext cx="1280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6B6359"/>
                </a:solidFill>
                <a:latin typeface="Yu Gothic"/>
              </a:rPr>
              <a:t>ブランド認知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691640" y="3493008"/>
            <a:ext cx="4251960" cy="694944"/>
          </a:xfrm>
          <a:prstGeom prst="rect">
            <a:avLst/>
          </a:prstGeom>
          <a:solidFill>
            <a:srgbClr val="2623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28800" y="3694176"/>
            <a:ext cx="3931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77065"/>
                </a:solidFill>
                <a:latin typeface="Yu Gothic"/>
              </a:rPr>
              <a:t>熊本・阿蘇圏のみ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89320" y="3694176"/>
            <a:ext cx="20116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B8935A"/>
                </a:solidFill>
                <a:latin typeface="Yu Gothic"/>
              </a:rPr>
              <a:t>-&gt;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36208" y="3493008"/>
            <a:ext cx="5632704" cy="694944"/>
          </a:xfrm>
          <a:prstGeom prst="rect">
            <a:avLst/>
          </a:prstGeom>
          <a:solidFill>
            <a:srgbClr val="142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3368" y="3694176"/>
            <a:ext cx="5303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DDAA"/>
                </a:solidFill>
                <a:latin typeface="Yu Gothic"/>
              </a:rPr>
              <a:t>全国（Webで地域制約なし）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28600" y="4242816"/>
            <a:ext cx="1417320" cy="694944"/>
          </a:xfrm>
          <a:prstGeom prst="rect">
            <a:avLst/>
          </a:prstGeom>
          <a:solidFill>
            <a:srgbClr val="22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2608" y="4443984"/>
            <a:ext cx="1280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6B6359"/>
                </a:solidFill>
                <a:latin typeface="Yu Gothic"/>
              </a:rPr>
              <a:t>コンテンツ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691640" y="4242816"/>
            <a:ext cx="4251960" cy="694944"/>
          </a:xfrm>
          <a:prstGeom prst="rect">
            <a:avLst/>
          </a:prstGeom>
          <a:solidFill>
            <a:srgbClr val="2623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28800" y="4443984"/>
            <a:ext cx="3931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77065"/>
                </a:solidFill>
                <a:latin typeface="Yu Gothic"/>
              </a:rPr>
              <a:t>なし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89320" y="4443984"/>
            <a:ext cx="20116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B8935A"/>
                </a:solidFill>
                <a:latin typeface="Yu Gothic"/>
              </a:rPr>
              <a:t>-&gt;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36208" y="4242816"/>
            <a:ext cx="5632704" cy="694944"/>
          </a:xfrm>
          <a:prstGeom prst="rect">
            <a:avLst/>
          </a:prstGeom>
          <a:solidFill>
            <a:srgbClr val="142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73368" y="4443984"/>
            <a:ext cx="5303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DDAA"/>
                </a:solidFill>
                <a:latin typeface="Yu Gothic"/>
              </a:rPr>
              <a:t>動画96本+ブログ自動更新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28600" y="4992624"/>
            <a:ext cx="1417320" cy="694944"/>
          </a:xfrm>
          <a:prstGeom prst="rect">
            <a:avLst/>
          </a:prstGeom>
          <a:solidFill>
            <a:srgbClr val="22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92608" y="5193792"/>
            <a:ext cx="1280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6B6359"/>
                </a:solidFill>
                <a:latin typeface="Yu Gothic"/>
              </a:rPr>
              <a:t>専門家としての権威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691640" y="4992624"/>
            <a:ext cx="4251960" cy="694944"/>
          </a:xfrm>
          <a:prstGeom prst="rect">
            <a:avLst/>
          </a:prstGeom>
          <a:solidFill>
            <a:srgbClr val="2623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828800" y="5193792"/>
            <a:ext cx="3931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77065"/>
                </a:solidFill>
                <a:latin typeface="Yu Gothic"/>
              </a:rPr>
              <a:t>口頭説明のみ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89320" y="5193792"/>
            <a:ext cx="20116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B8935A"/>
                </a:solidFill>
                <a:latin typeface="Yu Gothic"/>
              </a:rPr>
              <a:t>-&gt;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36208" y="4992624"/>
            <a:ext cx="5632704" cy="694944"/>
          </a:xfrm>
          <a:prstGeom prst="rect">
            <a:avLst/>
          </a:prstGeom>
          <a:solidFill>
            <a:srgbClr val="142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73368" y="5193792"/>
            <a:ext cx="5303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DDAA"/>
                </a:solidFill>
                <a:latin typeface="Yu Gothic"/>
              </a:rPr>
              <a:t>実績・事例・メディア掲載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28600" y="5742432"/>
            <a:ext cx="1417320" cy="694944"/>
          </a:xfrm>
          <a:prstGeom prst="rect">
            <a:avLst/>
          </a:prstGeom>
          <a:solidFill>
            <a:srgbClr val="22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92608" y="5943600"/>
            <a:ext cx="1280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6B6359"/>
                </a:solidFill>
                <a:latin typeface="Yu Gothic"/>
              </a:rPr>
              <a:t>集客にかける時間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691640" y="5742432"/>
            <a:ext cx="4251960" cy="694944"/>
          </a:xfrm>
          <a:prstGeom prst="rect">
            <a:avLst/>
          </a:prstGeom>
          <a:solidFill>
            <a:srgbClr val="2623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828800" y="5943600"/>
            <a:ext cx="3931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77065"/>
                </a:solidFill>
                <a:latin typeface="Yu Gothic"/>
              </a:rPr>
              <a:t>毎回ゼロから手動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989320" y="5943600"/>
            <a:ext cx="20116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B8935A"/>
                </a:solidFill>
                <a:latin typeface="Yu Gothic"/>
              </a:rPr>
              <a:t>-&gt;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36208" y="5742432"/>
            <a:ext cx="5632704" cy="694944"/>
          </a:xfrm>
          <a:prstGeom prst="rect">
            <a:avLst/>
          </a:prstGeom>
          <a:solidFill>
            <a:srgbClr val="142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73368" y="5943600"/>
            <a:ext cx="5303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DDAA"/>
                </a:solidFill>
                <a:latin typeface="Yu Gothic"/>
              </a:rPr>
              <a:t>仕組みが自動で動き続ける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28600" y="6473952"/>
            <a:ext cx="11731752" cy="274320"/>
          </a:xfrm>
          <a:prstGeom prst="rect">
            <a:avLst/>
          </a:prstGeom>
          <a:solidFill>
            <a:srgbClr val="2623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11480" y="6519672"/>
            <a:ext cx="11338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D4AF7A"/>
                </a:solidFill>
                <a:latin typeface="Yu Gothic"/>
              </a:rPr>
              <a:t>これらは「仕組み」として残るため、支援終了後も自走し続けます。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A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34747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935A"/>
                </a:solidFill>
                <a:latin typeface="Yu Gothic"/>
              </a:rPr>
              <a:t>02 -- WEB STRATEGY / FUNNEL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Yu Mincho"/>
              </a:rPr>
              <a:t>集客ファネル設計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61872"/>
            <a:ext cx="292608" cy="22860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417320"/>
            <a:ext cx="5486400" cy="749808"/>
          </a:xfrm>
          <a:prstGeom prst="rect">
            <a:avLst/>
          </a:prstGeom>
          <a:solidFill>
            <a:srgbClr val="22201C"/>
          </a:solidFill>
          <a:ln w="5080">
            <a:solidFill>
              <a:srgbClr val="4440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50876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C5B8"/>
                </a:solidFill>
                <a:latin typeface="Yu Gothic"/>
              </a:rPr>
              <a:t>認知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856232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88070"/>
                </a:solidFill>
                <a:latin typeface="Yu Gothic"/>
              </a:rPr>
              <a:t>Google検索 / セミナー登壇 / 紹介・口コミ / Instagram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2167128"/>
            <a:ext cx="548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B8935A"/>
                </a:solidFill>
                <a:latin typeface="Yu Gothic"/>
              </a:rPr>
              <a:t>v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2331720"/>
            <a:ext cx="5486400" cy="749808"/>
          </a:xfrm>
          <a:prstGeom prst="rect">
            <a:avLst/>
          </a:prstGeom>
          <a:solidFill>
            <a:srgbClr val="282622"/>
          </a:solidFill>
          <a:ln w="15240">
            <a:solidFill>
              <a:srgbClr val="B893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42316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4AF7A"/>
                </a:solidFill>
                <a:latin typeface="Yu Gothic"/>
              </a:rPr>
              <a:t>LP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2770632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88070"/>
                </a:solidFill>
                <a:latin typeface="Yu Gothic"/>
              </a:rPr>
              <a:t>信頼構築・サービス訴求・無料相談CTA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3081528"/>
            <a:ext cx="548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B8935A"/>
                </a:solidFill>
                <a:latin typeface="Yu Gothic"/>
              </a:rPr>
              <a:t>v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" y="3246120"/>
            <a:ext cx="5486400" cy="749808"/>
          </a:xfrm>
          <a:prstGeom prst="rect">
            <a:avLst/>
          </a:prstGeom>
          <a:solidFill>
            <a:srgbClr val="065028"/>
          </a:solidFill>
          <a:ln w="15240">
            <a:solidFill>
              <a:srgbClr val="B893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333756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4AF7A"/>
                </a:solidFill>
                <a:latin typeface="Yu Gothic"/>
              </a:rPr>
              <a:t>公式LINE 登録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3685032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88070"/>
                </a:solidFill>
                <a:latin typeface="Yu Gothic"/>
              </a:rPr>
              <a:t>自動フォロー配信・セミナー案内・相談予約導線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3995928"/>
            <a:ext cx="548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B8935A"/>
                </a:solidFill>
                <a:latin typeface="Yu Gothic"/>
              </a:rPr>
              <a:t>v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8600" y="4160520"/>
            <a:ext cx="5486400" cy="749808"/>
          </a:xfrm>
          <a:prstGeom prst="rect">
            <a:avLst/>
          </a:prstGeom>
          <a:solidFill>
            <a:srgbClr val="22201C"/>
          </a:solidFill>
          <a:ln w="5080">
            <a:solidFill>
              <a:srgbClr val="4440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425196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C5B8"/>
                </a:solidFill>
                <a:latin typeface="Yu Gothic"/>
              </a:rPr>
              <a:t>無料相談（60分）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4599432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88070"/>
                </a:solidFill>
                <a:latin typeface="Yu Gothic"/>
              </a:rPr>
              <a:t>課題ヒアリング → プラン提案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4910328"/>
            <a:ext cx="548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B8935A"/>
                </a:solidFill>
                <a:latin typeface="Yu Gothic"/>
              </a:rPr>
              <a:t>v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8600" y="5074920"/>
            <a:ext cx="5486400" cy="749808"/>
          </a:xfrm>
          <a:prstGeom prst="rect">
            <a:avLst/>
          </a:prstGeom>
          <a:solidFill>
            <a:srgbClr val="22201C"/>
          </a:solidFill>
          <a:ln w="5080">
            <a:solidFill>
              <a:srgbClr val="4440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516636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C5B8"/>
                </a:solidFill>
                <a:latin typeface="Yu Gothic"/>
              </a:rPr>
              <a:t>契約・支援スタート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5513832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88070"/>
                </a:solidFill>
                <a:latin typeface="Yu Gothic"/>
              </a:rPr>
              <a:t>ライト / スタンダード / プレミアム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80760" y="1417320"/>
            <a:ext cx="5879592" cy="1188720"/>
          </a:xfrm>
          <a:prstGeom prst="rect">
            <a:avLst/>
          </a:prstGeom>
          <a:solidFill>
            <a:srgbClr val="22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63640" y="15087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8935A"/>
                </a:solidFill>
                <a:latin typeface="Yu Gothic"/>
              </a:rPr>
              <a:t>ターゲット市場規模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1810512"/>
            <a:ext cx="55778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Yu Gothic"/>
              </a:rPr>
              <a:t>飲食+旅館・ホテル 約65万事業者 / うち事業承継課題 約25万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80760" y="2743200"/>
            <a:ext cx="5879592" cy="2103120"/>
          </a:xfrm>
          <a:prstGeom prst="rect">
            <a:avLst/>
          </a:prstGeom>
          <a:solidFill>
            <a:srgbClr val="22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63640" y="28529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8935A"/>
                </a:solidFill>
                <a:latin typeface="Yu Gothic"/>
              </a:rPr>
              <a:t>年間KPI目標（テストマーケ期）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318211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295"/>
                </a:solidFill>
                <a:latin typeface="Yu Gothic"/>
              </a:rPr>
              <a:t>月間LP訪問者数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9720" y="318211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Yu Gothic"/>
              </a:rPr>
              <a:t>200〜500 PV（6ヶ月以降）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40" y="356616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295"/>
                </a:solidFill>
                <a:latin typeface="Yu Gothic"/>
              </a:rPr>
              <a:t>LINE登録数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89720" y="356616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Yu Gothic"/>
              </a:rPr>
              <a:t>月2〜5件（B2Bのため厳選）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63640" y="3950208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295"/>
                </a:solidFill>
                <a:latin typeface="Yu Gothic"/>
              </a:rPr>
              <a:t>無料相談申込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89720" y="395020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Yu Gothic"/>
              </a:rPr>
              <a:t>月1〜2件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63640" y="4334256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295"/>
                </a:solidFill>
                <a:latin typeface="Yu Gothic"/>
              </a:rPr>
              <a:t>成約（年間）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89720" y="4334256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Yu Gothic"/>
              </a:rPr>
              <a:t>6〜10件（月1件ペース達成が目標）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80760" y="4983480"/>
            <a:ext cx="5879592" cy="1645920"/>
          </a:xfrm>
          <a:prstGeom prst="rect">
            <a:avLst/>
          </a:prstGeom>
          <a:solidFill>
            <a:srgbClr val="18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5084064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A7A5E"/>
                </a:solidFill>
                <a:latin typeface="Yu Gothic"/>
              </a:rPr>
              <a:t>B2B集客の特性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63640" y="5358384"/>
            <a:ext cx="5577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295"/>
                </a:solidFill>
                <a:latin typeface="Yu Gothic"/>
              </a:rPr>
              <a:t>一般消費者向けLINEと異なり、経営者へのリーチはセミナー・紹介が主体。
LINEは温めた見込み客との関係維持ツールとして活用。月1件の成約が
テストマーケティングの現実的な目標。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A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34747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935A"/>
                </a:solidFill>
                <a:latin typeface="Yu Gothic"/>
              </a:rPr>
              <a:t>ROI -- 収益シミュレーション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Yu Mincho"/>
              </a:rPr>
              <a:t>小野氏のコンサル収益シミュレーション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61872"/>
            <a:ext cx="292608" cy="22860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389888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359"/>
                </a:solidFill>
                <a:latin typeface="Yu Gothic"/>
              </a:rPr>
              <a:t>Brain支援後の想定成約数をもとに、小野氏のコンサル事業の年間売上を試算します。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828800"/>
            <a:ext cx="3474720" cy="4206240"/>
          </a:xfrm>
          <a:prstGeom prst="rect">
            <a:avLst/>
          </a:prstGeom>
          <a:solidFill>
            <a:srgbClr val="22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938528"/>
            <a:ext cx="3108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8935A"/>
                </a:solidFill>
                <a:latin typeface="Yu Gothic"/>
              </a:rPr>
              <a:t>小野氏のサービス料金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331720"/>
            <a:ext cx="3108960" cy="749808"/>
          </a:xfrm>
          <a:prstGeom prst="rect">
            <a:avLst/>
          </a:prstGeom>
          <a:solidFill>
            <a:srgbClr val="2623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404872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359"/>
                </a:solidFill>
                <a:latin typeface="Yu Gothic"/>
              </a:rPr>
              <a:t>スポットコンサル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697480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D4AF7A"/>
                </a:solidFill>
                <a:latin typeface="Yu Mincho"/>
              </a:rPr>
              <a:t>5万円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275234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359"/>
                </a:solidFill>
                <a:latin typeface="Yu Gothic"/>
              </a:rPr>
              <a:t>/ 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200400"/>
            <a:ext cx="3108960" cy="749808"/>
          </a:xfrm>
          <a:prstGeom prst="rect">
            <a:avLst/>
          </a:prstGeom>
          <a:solidFill>
            <a:srgbClr val="2623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73552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359"/>
                </a:solidFill>
                <a:latin typeface="Yu Gothic"/>
              </a:rPr>
              <a:t>エッセンシャル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566160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D4AF7A"/>
                </a:solidFill>
                <a:latin typeface="Yu Mincho"/>
              </a:rPr>
              <a:t>21万円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362102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359"/>
                </a:solidFill>
                <a:latin typeface="Yu Gothic"/>
              </a:rPr>
              <a:t>/ 3ヶ月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4069080"/>
            <a:ext cx="3108960" cy="749808"/>
          </a:xfrm>
          <a:prstGeom prst="rect">
            <a:avLst/>
          </a:prstGeom>
          <a:solidFill>
            <a:srgbClr val="2623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142232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359"/>
                </a:solidFill>
                <a:latin typeface="Yu Gothic"/>
              </a:rPr>
              <a:t>スタンダード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434840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D4AF7A"/>
                </a:solidFill>
                <a:latin typeface="Yu Mincho"/>
              </a:rPr>
              <a:t>45万円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06040" y="448970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359"/>
                </a:solidFill>
                <a:latin typeface="Yu Gothic"/>
              </a:rPr>
              <a:t>/ 3ヶ月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4937760"/>
            <a:ext cx="3108960" cy="749808"/>
          </a:xfrm>
          <a:prstGeom prst="rect">
            <a:avLst/>
          </a:prstGeom>
          <a:solidFill>
            <a:srgbClr val="2623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5010912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359"/>
                </a:solidFill>
                <a:latin typeface="Yu Gothic"/>
              </a:rPr>
              <a:t>エグゼクティブ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303520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D4AF7A"/>
                </a:solidFill>
                <a:latin typeface="Yu Mincho"/>
              </a:rPr>
              <a:t>90万円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53583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359"/>
                </a:solidFill>
                <a:latin typeface="Yu Gothic"/>
              </a:rPr>
              <a:t>/ 3ヶ月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977639" y="1828800"/>
            <a:ext cx="3657600" cy="457200"/>
          </a:xfrm>
          <a:prstGeom prst="rect">
            <a:avLst/>
          </a:prstGeom>
          <a:solidFill>
            <a:srgbClr val="2623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799" y="192024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B6359"/>
                </a:solidFill>
                <a:latin typeface="Yu Gothic"/>
              </a:rPr>
              <a:t>保守シナリオ（年間6件）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77639" y="2377440"/>
            <a:ext cx="3657600" cy="530352"/>
          </a:xfrm>
          <a:prstGeom prst="rect">
            <a:avLst/>
          </a:prstGeom>
          <a:solidFill>
            <a:srgbClr val="22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087367" y="248716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AAA295"/>
                </a:solidFill>
                <a:latin typeface="Yu Gothic"/>
              </a:rPr>
              <a:t>スポット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40679" y="2487168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Yu Gothic"/>
              </a:rPr>
              <a:t>2件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97879" y="2487168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359"/>
                </a:solidFill>
                <a:latin typeface="Yu Gothic"/>
              </a:rPr>
              <a:t>×  5万円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2279" y="2487168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D4AF7A"/>
                </a:solidFill>
                <a:latin typeface="Yu Gothic"/>
              </a:rPr>
              <a:t>10万円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977639" y="2980944"/>
            <a:ext cx="3657600" cy="530352"/>
          </a:xfrm>
          <a:prstGeom prst="rect">
            <a:avLst/>
          </a:prstGeom>
          <a:solidFill>
            <a:srgbClr val="22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087367" y="3090672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AAA295"/>
                </a:solidFill>
                <a:latin typeface="Yu Gothic"/>
              </a:rPr>
              <a:t>エッセンシャル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40679" y="309067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Yu Gothic"/>
              </a:rPr>
              <a:t>2件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97879" y="3090672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359"/>
                </a:solidFill>
                <a:latin typeface="Yu Gothic"/>
              </a:rPr>
              <a:t>× 21万円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12279" y="3090672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D4AF7A"/>
                </a:solidFill>
                <a:latin typeface="Yu Gothic"/>
              </a:rPr>
              <a:t>42万円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977639" y="3584448"/>
            <a:ext cx="3657600" cy="530352"/>
          </a:xfrm>
          <a:prstGeom prst="rect">
            <a:avLst/>
          </a:prstGeom>
          <a:solidFill>
            <a:srgbClr val="22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087367" y="3694176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AAA295"/>
                </a:solidFill>
                <a:latin typeface="Yu Gothic"/>
              </a:rPr>
              <a:t>スタンダード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40679" y="3694176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Yu Gothic"/>
              </a:rPr>
              <a:t>1件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97879" y="3694176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359"/>
                </a:solidFill>
                <a:latin typeface="Yu Gothic"/>
              </a:rPr>
              <a:t>× 45万円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12279" y="3694176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D4AF7A"/>
                </a:solidFill>
                <a:latin typeface="Yu Gothic"/>
              </a:rPr>
              <a:t>45万円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977639" y="4187952"/>
            <a:ext cx="3657600" cy="530352"/>
          </a:xfrm>
          <a:prstGeom prst="rect">
            <a:avLst/>
          </a:prstGeom>
          <a:solidFill>
            <a:srgbClr val="22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087367" y="429768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AAA295"/>
                </a:solidFill>
                <a:latin typeface="Yu Gothic"/>
              </a:rPr>
              <a:t>エグゼクティブ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40679" y="429768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Yu Gothic"/>
              </a:rPr>
              <a:t>1件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97879" y="429768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359"/>
                </a:solidFill>
                <a:latin typeface="Yu Gothic"/>
              </a:rPr>
              <a:t>× 90万円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12279" y="429768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D4AF7A"/>
                </a:solidFill>
                <a:latin typeface="Yu Gothic"/>
              </a:rPr>
              <a:t>90万円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977639" y="4828032"/>
            <a:ext cx="3657600" cy="502920"/>
          </a:xfrm>
          <a:prstGeom prst="rect">
            <a:avLst/>
          </a:prstGeom>
          <a:solidFill>
            <a:srgbClr val="223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114799" y="4910328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7A5E"/>
                </a:solidFill>
                <a:latin typeface="Yu Gothic"/>
              </a:rPr>
              <a:t>年間売上（概算）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55079" y="4873752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27AE60"/>
                </a:solidFill>
                <a:latin typeface="Yu Mincho"/>
              </a:rPr>
              <a:t>187万円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863840" y="1828800"/>
            <a:ext cx="3657600" cy="457200"/>
          </a:xfrm>
          <a:prstGeom prst="rect">
            <a:avLst/>
          </a:prstGeom>
          <a:solidFill>
            <a:srgbClr val="1C2E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001000" y="192024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7A5E"/>
                </a:solidFill>
                <a:latin typeface="Yu Gothic"/>
              </a:rPr>
              <a:t>目標シナリオ（年間10件）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863840" y="2377440"/>
            <a:ext cx="3657600" cy="530352"/>
          </a:xfrm>
          <a:prstGeom prst="rect">
            <a:avLst/>
          </a:prstGeom>
          <a:solidFill>
            <a:srgbClr val="1826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973568" y="248716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AAA295"/>
                </a:solidFill>
                <a:latin typeface="Yu Gothic"/>
              </a:rPr>
              <a:t>スポット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326880" y="2487168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Yu Gothic"/>
              </a:rPr>
              <a:t>2件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784080" y="2487168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359"/>
                </a:solidFill>
                <a:latin typeface="Yu Gothic"/>
              </a:rPr>
              <a:t>×  5万円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698480" y="2487168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88DDAA"/>
                </a:solidFill>
                <a:latin typeface="Yu Gothic"/>
              </a:rPr>
              <a:t>10万円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863840" y="2980944"/>
            <a:ext cx="3657600" cy="530352"/>
          </a:xfrm>
          <a:prstGeom prst="rect">
            <a:avLst/>
          </a:prstGeom>
          <a:solidFill>
            <a:srgbClr val="1826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973568" y="3090672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AAA295"/>
                </a:solidFill>
                <a:latin typeface="Yu Gothic"/>
              </a:rPr>
              <a:t>エッセンシャル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326880" y="309067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Yu Gothic"/>
              </a:rPr>
              <a:t>3件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3090672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359"/>
                </a:solidFill>
                <a:latin typeface="Yu Gothic"/>
              </a:rPr>
              <a:t>× 21万円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698480" y="3090672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88DDAA"/>
                </a:solidFill>
                <a:latin typeface="Yu Gothic"/>
              </a:rPr>
              <a:t>63万円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863840" y="3584448"/>
            <a:ext cx="3657600" cy="530352"/>
          </a:xfrm>
          <a:prstGeom prst="rect">
            <a:avLst/>
          </a:prstGeom>
          <a:solidFill>
            <a:srgbClr val="1826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973568" y="3694176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AAA295"/>
                </a:solidFill>
                <a:latin typeface="Yu Gothic"/>
              </a:rPr>
              <a:t>スタンダード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326880" y="3694176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Yu Gothic"/>
              </a:rPr>
              <a:t>3件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784080" y="3694176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359"/>
                </a:solidFill>
                <a:latin typeface="Yu Gothic"/>
              </a:rPr>
              <a:t>× 45万円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98480" y="3694176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88DDAA"/>
                </a:solidFill>
                <a:latin typeface="Yu Gothic"/>
              </a:rPr>
              <a:t>135万円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863840" y="4187952"/>
            <a:ext cx="3657600" cy="530352"/>
          </a:xfrm>
          <a:prstGeom prst="rect">
            <a:avLst/>
          </a:prstGeom>
          <a:solidFill>
            <a:srgbClr val="1826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973568" y="429768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AAA295"/>
                </a:solidFill>
                <a:latin typeface="Yu Gothic"/>
              </a:rPr>
              <a:t>エグゼクティブ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326880" y="429768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Yu Gothic"/>
              </a:rPr>
              <a:t>2件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784080" y="429768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359"/>
                </a:solidFill>
                <a:latin typeface="Yu Gothic"/>
              </a:rPr>
              <a:t>× 90万円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698480" y="429768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88DDAA"/>
                </a:solidFill>
                <a:latin typeface="Yu Gothic"/>
              </a:rPr>
              <a:t>180万円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863840" y="4828032"/>
            <a:ext cx="3657600" cy="502920"/>
          </a:xfrm>
          <a:prstGeom prst="rect">
            <a:avLst/>
          </a:prstGeom>
          <a:solidFill>
            <a:srgbClr val="1A4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001000" y="4910328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7A5E"/>
                </a:solidFill>
                <a:latin typeface="Yu Gothic"/>
              </a:rPr>
              <a:t>年間売上（概算）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95560" y="4873752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27AE60"/>
                </a:solidFill>
                <a:latin typeface="Yu Mincho"/>
              </a:rPr>
              <a:t>388万円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28600" y="5532120"/>
            <a:ext cx="11731752" cy="1143000"/>
          </a:xfrm>
          <a:prstGeom prst="rect">
            <a:avLst/>
          </a:prstGeom>
          <a:solidFill>
            <a:srgbClr val="2233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11480" y="56235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7A5E"/>
                </a:solidFill>
                <a:latin typeface="Yu Gothic"/>
              </a:rPr>
              <a:t>投資対効果サマリ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11480" y="592531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Yu Gothic"/>
              </a:rPr>
              <a:t>Brain支援の実質自己負担：ほぼ0円（補助金活用）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669280" y="5925312"/>
            <a:ext cx="6126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27AE60"/>
                </a:solidFill>
                <a:latin typeface="Yu Gothic"/>
              </a:rPr>
              <a:t>保守 +187万円  /  目標 +388万円  の売上増が見込める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34747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935A"/>
                </a:solidFill>
                <a:latin typeface="Yu Gothic"/>
              </a:rPr>
              <a:t>03 -- SERVICE PLANS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C1A16"/>
                </a:solidFill>
                <a:latin typeface="Yu Mincho"/>
              </a:rPr>
              <a:t>サービスプラン比較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61872"/>
            <a:ext cx="292608" cy="22860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417320"/>
            <a:ext cx="2834640" cy="1097280"/>
          </a:xfrm>
          <a:prstGeom prst="rect">
            <a:avLst/>
          </a:prstGeom>
          <a:solidFill>
            <a:srgbClr val="EEEAE3"/>
          </a:solidFill>
          <a:ln w="635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154680" y="1417320"/>
            <a:ext cx="2880360" cy="1097280"/>
          </a:xfrm>
          <a:prstGeom prst="rect">
            <a:avLst/>
          </a:prstGeom>
          <a:solidFill>
            <a:srgbClr val="F0EDE8"/>
          </a:solidFill>
          <a:ln w="635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64408" y="1664208"/>
            <a:ext cx="2697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C1A16"/>
                </a:solidFill>
                <a:latin typeface="Yu Mincho"/>
              </a:rPr>
              <a:t>ライト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64408" y="2029968"/>
            <a:ext cx="2697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B8935A"/>
                </a:solidFill>
                <a:latin typeface="Yu Gothic"/>
              </a:rPr>
              <a:t>150万円/年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64408" y="2377440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AAA090"/>
                </a:solidFill>
                <a:latin typeface="Yu Gothic"/>
              </a:rPr>
              <a:t>うちLINE広告費 60万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417320"/>
            <a:ext cx="2880360" cy="1097280"/>
          </a:xfrm>
          <a:prstGeom prst="rect">
            <a:avLst/>
          </a:prstGeom>
          <a:solidFill>
            <a:srgbClr val="26231E"/>
          </a:solidFill>
          <a:ln w="635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6208" y="1664208"/>
            <a:ext cx="2697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Yu Mincho"/>
              </a:rPr>
              <a:t>スタンダード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6208" y="2029968"/>
            <a:ext cx="2697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4AF7A"/>
                </a:solidFill>
                <a:latin typeface="Yu Gothic"/>
              </a:rPr>
              <a:t>520万円/年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2377440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AAA090"/>
                </a:solidFill>
                <a:latin typeface="Yu Gothic"/>
              </a:rPr>
              <a:t>うちLINE広告費 60万
+SNS制作費 100万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98280" y="1417320"/>
            <a:ext cx="2862072" cy="1097280"/>
          </a:xfrm>
          <a:prstGeom prst="rect">
            <a:avLst/>
          </a:prstGeom>
          <a:solidFill>
            <a:srgbClr val="1C1A16"/>
          </a:solidFill>
          <a:ln w="635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89720" y="1463040"/>
            <a:ext cx="27249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D4AF7A"/>
                </a:solidFill>
                <a:latin typeface="Yu Gothic"/>
              </a:rPr>
              <a:t>★ RECOMMEND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08008" y="1664208"/>
            <a:ext cx="2679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Yu Mincho"/>
              </a:rPr>
              <a:t>プレミアム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08008" y="2029968"/>
            <a:ext cx="26791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4AF7A"/>
                </a:solidFill>
                <a:latin typeface="Yu Gothic"/>
              </a:rPr>
              <a:t>910万円/年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08008" y="2377440"/>
            <a:ext cx="26791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AAA090"/>
                </a:solidFill>
                <a:latin typeface="Yu Gothic"/>
              </a:rPr>
              <a:t>うちLINE広告費 60万
+SNS制作費 100万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8600" y="2578608"/>
            <a:ext cx="2834640" cy="493776"/>
          </a:xfrm>
          <a:prstGeom prst="rect">
            <a:avLst/>
          </a:prstGeom>
          <a:solidFill>
            <a:srgbClr val="EEEAE3"/>
          </a:solidFill>
          <a:ln w="508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8328" y="2688336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C1A16"/>
                </a:solidFill>
                <a:latin typeface="Yu Gothic"/>
              </a:rPr>
              <a:t>支援期間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54680" y="2578608"/>
            <a:ext cx="2880360" cy="493776"/>
          </a:xfrm>
          <a:prstGeom prst="rect">
            <a:avLst/>
          </a:prstGeom>
          <a:solidFill>
            <a:srgbClr val="FFFFFF"/>
          </a:solidFill>
          <a:ln w="508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46120" y="2688336"/>
            <a:ext cx="27157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C1A16"/>
                </a:solidFill>
                <a:latin typeface="Yu Gothic"/>
              </a:rPr>
              <a:t>2ヶ月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26480" y="2578608"/>
            <a:ext cx="2880360" cy="493776"/>
          </a:xfrm>
          <a:prstGeom prst="rect">
            <a:avLst/>
          </a:prstGeom>
          <a:solidFill>
            <a:srgbClr val="22201C"/>
          </a:solidFill>
          <a:ln w="508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0" y="2688336"/>
            <a:ext cx="27157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Yu Gothic"/>
              </a:rPr>
              <a:t>6ヶ月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98280" y="2578608"/>
            <a:ext cx="2862072" cy="493776"/>
          </a:xfrm>
          <a:prstGeom prst="rect">
            <a:avLst/>
          </a:prstGeom>
          <a:solidFill>
            <a:srgbClr val="1C1A16"/>
          </a:solidFill>
          <a:ln w="508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9720" y="2688336"/>
            <a:ext cx="2697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D4AF7A"/>
                </a:solidFill>
                <a:latin typeface="Yu Gothic"/>
              </a:rPr>
              <a:t>12ヶ月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28600" y="3072384"/>
            <a:ext cx="2834640" cy="493776"/>
          </a:xfrm>
          <a:prstGeom prst="rect">
            <a:avLst/>
          </a:prstGeom>
          <a:solidFill>
            <a:srgbClr val="EEEAE3"/>
          </a:solidFill>
          <a:ln w="508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8328" y="3182112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C1A16"/>
                </a:solidFill>
                <a:latin typeface="Yu Gothic"/>
              </a:rPr>
              <a:t>LP制作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54680" y="3072384"/>
            <a:ext cx="2880360" cy="493776"/>
          </a:xfrm>
          <a:prstGeom prst="rect">
            <a:avLst/>
          </a:prstGeom>
          <a:solidFill>
            <a:srgbClr val="FAF8F4"/>
          </a:solidFill>
          <a:ln w="508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46120" y="3182112"/>
            <a:ext cx="27157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C1A16"/>
                </a:solidFill>
                <a:latin typeface="Yu Gothic"/>
              </a:rPr>
              <a:t>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26480" y="3072384"/>
            <a:ext cx="2880360" cy="493776"/>
          </a:xfrm>
          <a:prstGeom prst="rect">
            <a:avLst/>
          </a:prstGeom>
          <a:solidFill>
            <a:srgbClr val="22201C"/>
          </a:solidFill>
          <a:ln w="508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17920" y="3182112"/>
            <a:ext cx="27157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Yu Gothic"/>
              </a:rPr>
              <a:t>✓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098280" y="3072384"/>
            <a:ext cx="2862072" cy="493776"/>
          </a:xfrm>
          <a:prstGeom prst="rect">
            <a:avLst/>
          </a:prstGeom>
          <a:solidFill>
            <a:srgbClr val="1C1A16"/>
          </a:solidFill>
          <a:ln w="508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89720" y="3182112"/>
            <a:ext cx="2697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D4AF7A"/>
                </a:solidFill>
                <a:latin typeface="Yu Gothic"/>
              </a:rPr>
              <a:t>✓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28600" y="3566160"/>
            <a:ext cx="2834640" cy="493776"/>
          </a:xfrm>
          <a:prstGeom prst="rect">
            <a:avLst/>
          </a:prstGeom>
          <a:solidFill>
            <a:srgbClr val="EEEAE3"/>
          </a:solidFill>
          <a:ln w="508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8328" y="3675888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C1A16"/>
                </a:solidFill>
                <a:latin typeface="Yu Gothic"/>
              </a:rPr>
              <a:t>公式LINE構築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54680" y="3566160"/>
            <a:ext cx="2880360" cy="493776"/>
          </a:xfrm>
          <a:prstGeom prst="rect">
            <a:avLst/>
          </a:prstGeom>
          <a:solidFill>
            <a:srgbClr val="FFFFFF"/>
          </a:solidFill>
          <a:ln w="508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246120" y="3675888"/>
            <a:ext cx="27157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C1A16"/>
                </a:solidFill>
                <a:latin typeface="Yu Gothic"/>
              </a:rPr>
              <a:t>基本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26480" y="3566160"/>
            <a:ext cx="2880360" cy="493776"/>
          </a:xfrm>
          <a:prstGeom prst="rect">
            <a:avLst/>
          </a:prstGeom>
          <a:solidFill>
            <a:srgbClr val="22201C"/>
          </a:solidFill>
          <a:ln w="508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17920" y="3675888"/>
            <a:ext cx="27157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Yu Gothic"/>
              </a:rPr>
              <a:t>フル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098280" y="3566160"/>
            <a:ext cx="2862072" cy="493776"/>
          </a:xfrm>
          <a:prstGeom prst="rect">
            <a:avLst/>
          </a:prstGeom>
          <a:solidFill>
            <a:srgbClr val="1C1A16"/>
          </a:solidFill>
          <a:ln w="508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89720" y="3675888"/>
            <a:ext cx="2697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D4AF7A"/>
                </a:solidFill>
                <a:latin typeface="Yu Gothic"/>
              </a:rPr>
              <a:t>フル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28600" y="4059936"/>
            <a:ext cx="2834640" cy="493776"/>
          </a:xfrm>
          <a:prstGeom prst="rect">
            <a:avLst/>
          </a:prstGeom>
          <a:solidFill>
            <a:srgbClr val="EEEAE3"/>
          </a:solidFill>
          <a:ln w="508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8328" y="4169664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C1A16"/>
                </a:solidFill>
                <a:latin typeface="Yu Gothic"/>
              </a:rPr>
              <a:t>LINE広告 60万/年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154680" y="4059936"/>
            <a:ext cx="2880360" cy="493776"/>
          </a:xfrm>
          <a:prstGeom prst="rect">
            <a:avLst/>
          </a:prstGeom>
          <a:solidFill>
            <a:srgbClr val="FAF8F4"/>
          </a:solidFill>
          <a:ln w="508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246120" y="4169664"/>
            <a:ext cx="27157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C1A16"/>
                </a:solidFill>
                <a:latin typeface="Yu Gothic"/>
              </a:rPr>
              <a:t>✓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26480" y="4059936"/>
            <a:ext cx="2880360" cy="493776"/>
          </a:xfrm>
          <a:prstGeom prst="rect">
            <a:avLst/>
          </a:prstGeom>
          <a:solidFill>
            <a:srgbClr val="22201C"/>
          </a:solidFill>
          <a:ln w="508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17920" y="4169664"/>
            <a:ext cx="27157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Yu Gothic"/>
              </a:rPr>
              <a:t>✓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098280" y="4059936"/>
            <a:ext cx="2862072" cy="493776"/>
          </a:xfrm>
          <a:prstGeom prst="rect">
            <a:avLst/>
          </a:prstGeom>
          <a:solidFill>
            <a:srgbClr val="1C1A16"/>
          </a:solidFill>
          <a:ln w="508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89720" y="4169664"/>
            <a:ext cx="2697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D4AF7A"/>
                </a:solidFill>
                <a:latin typeface="Yu Gothic"/>
              </a:rPr>
              <a:t>✓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28600" y="4553712"/>
            <a:ext cx="2834640" cy="493776"/>
          </a:xfrm>
          <a:prstGeom prst="rect">
            <a:avLst/>
          </a:prstGeom>
          <a:solidFill>
            <a:srgbClr val="EEEAE3"/>
          </a:solidFill>
          <a:ln w="508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8328" y="4663440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C1A16"/>
                </a:solidFill>
                <a:latin typeface="Yu Gothic"/>
              </a:rPr>
              <a:t>ブランディング戦略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54680" y="4553712"/>
            <a:ext cx="2880360" cy="493776"/>
          </a:xfrm>
          <a:prstGeom prst="rect">
            <a:avLst/>
          </a:prstGeom>
          <a:solidFill>
            <a:srgbClr val="FFFFFF"/>
          </a:solidFill>
          <a:ln w="508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246120" y="4663440"/>
            <a:ext cx="27157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99088"/>
                </a:solidFill>
                <a:latin typeface="Yu Gothic"/>
              </a:rPr>
              <a:t>-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26480" y="4553712"/>
            <a:ext cx="2880360" cy="493776"/>
          </a:xfrm>
          <a:prstGeom prst="rect">
            <a:avLst/>
          </a:prstGeom>
          <a:solidFill>
            <a:srgbClr val="22201C"/>
          </a:solidFill>
          <a:ln w="508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17920" y="4663440"/>
            <a:ext cx="27157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Yu Gothic"/>
              </a:rPr>
              <a:t>✓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098280" y="4553712"/>
            <a:ext cx="2862072" cy="493776"/>
          </a:xfrm>
          <a:prstGeom prst="rect">
            <a:avLst/>
          </a:prstGeom>
          <a:solidFill>
            <a:srgbClr val="1C1A16"/>
          </a:solidFill>
          <a:ln w="508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189720" y="4663440"/>
            <a:ext cx="2697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D4AF7A"/>
                </a:solidFill>
                <a:latin typeface="Yu Gothic"/>
              </a:rPr>
              <a:t>✓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28600" y="5047488"/>
            <a:ext cx="2834640" cy="493776"/>
          </a:xfrm>
          <a:prstGeom prst="rect">
            <a:avLst/>
          </a:prstGeom>
          <a:solidFill>
            <a:srgbClr val="EEEAE3"/>
          </a:solidFill>
          <a:ln w="508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38328" y="5157216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C1A16"/>
                </a:solidFill>
                <a:latin typeface="Yu Gothic"/>
              </a:rPr>
              <a:t>月次マーケ支援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154680" y="5047488"/>
            <a:ext cx="2880360" cy="493776"/>
          </a:xfrm>
          <a:prstGeom prst="rect">
            <a:avLst/>
          </a:prstGeom>
          <a:solidFill>
            <a:srgbClr val="FAF8F4"/>
          </a:solidFill>
          <a:ln w="508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246120" y="5157216"/>
            <a:ext cx="27157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99088"/>
                </a:solidFill>
                <a:latin typeface="Yu Gothic"/>
              </a:rPr>
              <a:t>-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126480" y="5047488"/>
            <a:ext cx="2880360" cy="493776"/>
          </a:xfrm>
          <a:prstGeom prst="rect">
            <a:avLst/>
          </a:prstGeom>
          <a:solidFill>
            <a:srgbClr val="22201C"/>
          </a:solidFill>
          <a:ln w="508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217920" y="5157216"/>
            <a:ext cx="27157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Yu Gothic"/>
              </a:rPr>
              <a:t>4ヶ月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098280" y="5047488"/>
            <a:ext cx="2862072" cy="493776"/>
          </a:xfrm>
          <a:prstGeom prst="rect">
            <a:avLst/>
          </a:prstGeom>
          <a:solidFill>
            <a:srgbClr val="1C1A16"/>
          </a:solidFill>
          <a:ln w="508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189720" y="5157216"/>
            <a:ext cx="2697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D4AF7A"/>
                </a:solidFill>
                <a:latin typeface="Yu Gothic"/>
              </a:rPr>
              <a:t>12ヶ月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28600" y="5541264"/>
            <a:ext cx="2834640" cy="493776"/>
          </a:xfrm>
          <a:prstGeom prst="rect">
            <a:avLst/>
          </a:prstGeom>
          <a:solidFill>
            <a:srgbClr val="EEEAE3"/>
          </a:solidFill>
          <a:ln w="508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38328" y="5650992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C1A16"/>
                </a:solidFill>
                <a:latin typeface="Yu Gothic"/>
              </a:rPr>
              <a:t>SNS動画制作・運用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154680" y="5541264"/>
            <a:ext cx="2880360" cy="493776"/>
          </a:xfrm>
          <a:prstGeom prst="rect">
            <a:avLst/>
          </a:prstGeom>
          <a:solidFill>
            <a:srgbClr val="FFFFFF"/>
          </a:solidFill>
          <a:ln w="508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246120" y="5650992"/>
            <a:ext cx="27157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99088"/>
                </a:solidFill>
                <a:latin typeface="Yu Gothic"/>
              </a:rPr>
              <a:t>-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126480" y="5541264"/>
            <a:ext cx="2880360" cy="493776"/>
          </a:xfrm>
          <a:prstGeom prst="rect">
            <a:avLst/>
          </a:prstGeom>
          <a:solidFill>
            <a:srgbClr val="22201C"/>
          </a:solidFill>
          <a:ln w="508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217920" y="5650992"/>
            <a:ext cx="27157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Yu Gothic"/>
              </a:rPr>
              <a:t>✓ 100万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098280" y="5541264"/>
            <a:ext cx="2862072" cy="493776"/>
          </a:xfrm>
          <a:prstGeom prst="rect">
            <a:avLst/>
          </a:prstGeom>
          <a:solidFill>
            <a:srgbClr val="1C1A16"/>
          </a:solidFill>
          <a:ln w="508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189720" y="5650992"/>
            <a:ext cx="2697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D4AF7A"/>
                </a:solidFill>
                <a:latin typeface="Yu Gothic"/>
              </a:rPr>
              <a:t>✓ 100万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28600" y="6035040"/>
            <a:ext cx="2834640" cy="493776"/>
          </a:xfrm>
          <a:prstGeom prst="rect">
            <a:avLst/>
          </a:prstGeom>
          <a:solidFill>
            <a:srgbClr val="EEEAE3"/>
          </a:solidFill>
          <a:ln w="508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38328" y="6144768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C1A16"/>
                </a:solidFill>
                <a:latin typeface="Yu Gothic"/>
              </a:rPr>
              <a:t>AI活用・自動ブログ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154680" y="6035040"/>
            <a:ext cx="2880360" cy="493776"/>
          </a:xfrm>
          <a:prstGeom prst="rect">
            <a:avLst/>
          </a:prstGeom>
          <a:solidFill>
            <a:srgbClr val="FAF8F4"/>
          </a:solidFill>
          <a:ln w="508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246120" y="6144768"/>
            <a:ext cx="27157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99088"/>
                </a:solidFill>
                <a:latin typeface="Yu Gothic"/>
              </a:rPr>
              <a:t>-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126480" y="6035040"/>
            <a:ext cx="2880360" cy="493776"/>
          </a:xfrm>
          <a:prstGeom prst="rect">
            <a:avLst/>
          </a:prstGeom>
          <a:solidFill>
            <a:srgbClr val="22201C"/>
          </a:solidFill>
          <a:ln w="508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217920" y="6144768"/>
            <a:ext cx="27157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99088"/>
                </a:solidFill>
                <a:latin typeface="Yu Gothic"/>
              </a:rPr>
              <a:t>-</a:t>
            </a:r>
          </a:p>
        </p:txBody>
      </p:sp>
      <p:sp>
        <p:nvSpPr>
          <p:cNvPr id="83" name="Rectangle 82"/>
          <p:cNvSpPr/>
          <p:nvPr/>
        </p:nvSpPr>
        <p:spPr>
          <a:xfrm>
            <a:off x="9098280" y="6035040"/>
            <a:ext cx="2862072" cy="493776"/>
          </a:xfrm>
          <a:prstGeom prst="rect">
            <a:avLst/>
          </a:prstGeom>
          <a:solidFill>
            <a:srgbClr val="1C1A16"/>
          </a:solidFill>
          <a:ln w="508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9189720" y="6144768"/>
            <a:ext cx="2697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D4AF7A"/>
                </a:solidFill>
                <a:latin typeface="Yu Gothic"/>
              </a:rPr>
              <a:t>✓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28600" y="6528816"/>
            <a:ext cx="2834640" cy="493776"/>
          </a:xfrm>
          <a:prstGeom prst="rect">
            <a:avLst/>
          </a:prstGeom>
          <a:solidFill>
            <a:srgbClr val="2A2722"/>
          </a:solidFill>
          <a:ln w="508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38328" y="6638544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D4AF7A"/>
                </a:solidFill>
                <a:latin typeface="Yu Gothic"/>
              </a:rPr>
              <a:t>Brain 人件費（税抜）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154680" y="6528816"/>
            <a:ext cx="2880360" cy="493776"/>
          </a:xfrm>
          <a:prstGeom prst="rect">
            <a:avLst/>
          </a:prstGeom>
          <a:solidFill>
            <a:srgbClr val="1A3322"/>
          </a:solidFill>
          <a:ln w="508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246120" y="6638544"/>
            <a:ext cx="27157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27AE60"/>
                </a:solidFill>
                <a:latin typeface="Yu Gothic"/>
              </a:rPr>
              <a:t>90万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126480" y="6528816"/>
            <a:ext cx="2880360" cy="493776"/>
          </a:xfrm>
          <a:prstGeom prst="rect">
            <a:avLst/>
          </a:prstGeom>
          <a:solidFill>
            <a:srgbClr val="1A3322"/>
          </a:solidFill>
          <a:ln w="508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217920" y="6638544"/>
            <a:ext cx="27157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27AE60"/>
                </a:solidFill>
                <a:latin typeface="Yu Gothic"/>
              </a:rPr>
              <a:t>360万</a:t>
            </a:r>
          </a:p>
        </p:txBody>
      </p:sp>
      <p:sp>
        <p:nvSpPr>
          <p:cNvPr id="91" name="Rectangle 90"/>
          <p:cNvSpPr/>
          <p:nvPr/>
        </p:nvSpPr>
        <p:spPr>
          <a:xfrm>
            <a:off x="9098280" y="6528816"/>
            <a:ext cx="2862072" cy="493776"/>
          </a:xfrm>
          <a:prstGeom prst="rect">
            <a:avLst/>
          </a:prstGeom>
          <a:solidFill>
            <a:srgbClr val="1A3322"/>
          </a:solidFill>
          <a:ln w="508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9189720" y="6638544"/>
            <a:ext cx="2697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27AE60"/>
                </a:solidFill>
                <a:latin typeface="Yu Gothic"/>
              </a:rPr>
              <a:t>750万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28600" y="6537960"/>
            <a:ext cx="117317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6B6359"/>
                </a:solidFill>
                <a:latin typeface="Yu Gothic"/>
              </a:rPr>
              <a:t>※SNS制作費・LINE広告費は実費扱いで別途計上。Brain人件費のみ補助金申請対象。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A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34747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935A"/>
                </a:solidFill>
                <a:latin typeface="Yu Gothic"/>
              </a:rPr>
              <a:t>DELIVERABLES -- 成果物一覧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Yu Mincho"/>
              </a:rPr>
              <a:t>このプランで手元に残るもの（プレミアム）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61872"/>
            <a:ext cx="292608" cy="22860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389888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359"/>
                </a:solidFill>
                <a:latin typeface="Yu Gothic"/>
              </a:rPr>
              <a:t>Brainとの契約が終了した後も、これらの「仕組み」と「資産」が小野氏のビジネスを支え続けます。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783080"/>
            <a:ext cx="3657600" cy="2331720"/>
          </a:xfrm>
          <a:prstGeom prst="rect">
            <a:avLst/>
          </a:prstGeom>
          <a:solidFill>
            <a:srgbClr val="22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" y="1783080"/>
            <a:ext cx="3657600" cy="365760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" y="1837944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C1A16"/>
                </a:solidFill>
                <a:latin typeface="Yu Gothic"/>
              </a:rPr>
              <a:t>Web / LP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" y="2350008"/>
            <a:ext cx="54864" cy="54864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" y="2276856"/>
            <a:ext cx="33284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CC5B8"/>
                </a:solidFill>
                <a:latin typeface="Yu Gothic"/>
              </a:rPr>
              <a:t>LP本番公開（和モダン高級感デザイン）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" y="2715768"/>
            <a:ext cx="54864" cy="54864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" y="2642616"/>
            <a:ext cx="33284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CC5B8"/>
                </a:solidFill>
                <a:latin typeface="Yu Gothic"/>
              </a:rPr>
              <a:t>ブログ機能（AI自動投稿・記事一覧・詳細ページ）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328" y="3081528"/>
            <a:ext cx="54864" cy="54864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344" y="3008376"/>
            <a:ext cx="33284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CC5B8"/>
                </a:solidFill>
                <a:latin typeface="Yu Gothic"/>
              </a:rPr>
              <a:t>お問い合わせフォーム（無料相談導線）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8328" y="3447288"/>
            <a:ext cx="54864" cy="54864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6344" y="3374136"/>
            <a:ext cx="33284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CC5B8"/>
                </a:solidFill>
                <a:latin typeface="Yu Gothic"/>
              </a:rPr>
              <a:t>Google Analytics 4 / Search Console 計測環境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59936" y="1783080"/>
            <a:ext cx="3657600" cy="2331720"/>
          </a:xfrm>
          <a:prstGeom prst="rect">
            <a:avLst/>
          </a:prstGeom>
          <a:solidFill>
            <a:srgbClr val="22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059936" y="1783080"/>
            <a:ext cx="3657600" cy="365760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69664" y="1837944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C1A16"/>
                </a:solidFill>
                <a:latin typeface="Yu Gothic"/>
              </a:rPr>
              <a:t>公式LINE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69664" y="2350008"/>
            <a:ext cx="54864" cy="54864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97680" y="2276856"/>
            <a:ext cx="33284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CC5B8"/>
                </a:solidFill>
                <a:latin typeface="Yu Gothic"/>
              </a:rPr>
              <a:t>公式アカウント一式（リッチメニュー含む）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69664" y="2715768"/>
            <a:ext cx="54864" cy="54864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97680" y="2642616"/>
            <a:ext cx="33284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CC5B8"/>
                </a:solidFill>
                <a:latin typeface="Yu Gothic"/>
              </a:rPr>
              <a:t>ステップ配信シナリオ 5〜8通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69664" y="3081528"/>
            <a:ext cx="54864" cy="54864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97680" y="3008376"/>
            <a:ext cx="33284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CC5B8"/>
                </a:solidFill>
                <a:latin typeface="Yu Gothic"/>
              </a:rPr>
              <a:t>無料相談予約フロー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69664" y="3447288"/>
            <a:ext cx="54864" cy="54864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97680" y="3374136"/>
            <a:ext cx="33284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CC5B8"/>
                </a:solidFill>
                <a:latin typeface="Yu Gothic"/>
              </a:rPr>
              <a:t>LINE広告アカウント設定済み環境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69664" y="3813048"/>
            <a:ext cx="54864" cy="54864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97680" y="3739896"/>
            <a:ext cx="33284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D4AF7A"/>
                </a:solidFill>
                <a:latin typeface="Yu Gothic"/>
              </a:rPr>
              <a:t>▶ LINE運用・広告マニュアル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91272" y="1783080"/>
            <a:ext cx="3657600" cy="2331720"/>
          </a:xfrm>
          <a:prstGeom prst="rect">
            <a:avLst/>
          </a:prstGeom>
          <a:solidFill>
            <a:srgbClr val="22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91272" y="1783080"/>
            <a:ext cx="3657600" cy="365760"/>
          </a:xfrm>
          <a:prstGeom prst="rect">
            <a:avLst/>
          </a:prstGeom>
          <a:solidFill>
            <a:srgbClr val="D4A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01000" y="1837944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C1A16"/>
                </a:solidFill>
                <a:latin typeface="Yu Gothic"/>
              </a:rPr>
              <a:t>ブランディング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01000" y="2350008"/>
            <a:ext cx="54864" cy="54864"/>
          </a:xfrm>
          <a:prstGeom prst="rect">
            <a:avLst/>
          </a:prstGeom>
          <a:solidFill>
            <a:srgbClr val="D4A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29016" y="2276856"/>
            <a:ext cx="33284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CC5B8"/>
                </a:solidFill>
                <a:latin typeface="Yu Gothic"/>
              </a:rPr>
              <a:t>ブランドコンセプトシート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01000" y="2715768"/>
            <a:ext cx="54864" cy="54864"/>
          </a:xfrm>
          <a:prstGeom prst="rect">
            <a:avLst/>
          </a:prstGeom>
          <a:solidFill>
            <a:srgbClr val="D4A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29016" y="2642616"/>
            <a:ext cx="33284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CC5B8"/>
                </a:solidFill>
                <a:latin typeface="Yu Gothic"/>
              </a:rPr>
              <a:t>プロフィール文（LP・SNS・名刺用）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01000" y="3081528"/>
            <a:ext cx="54864" cy="54864"/>
          </a:xfrm>
          <a:prstGeom prst="rect">
            <a:avLst/>
          </a:prstGeom>
          <a:solidFill>
            <a:srgbClr val="D4A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129016" y="3008376"/>
            <a:ext cx="33284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CC5B8"/>
                </a:solidFill>
                <a:latin typeface="Yu Gothic"/>
              </a:rPr>
              <a:t>コンテンツカレンダー（3ヶ月分）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001000" y="3447288"/>
            <a:ext cx="54864" cy="54864"/>
          </a:xfrm>
          <a:prstGeom prst="rect">
            <a:avLst/>
          </a:prstGeom>
          <a:solidFill>
            <a:srgbClr val="D4A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29016" y="3374136"/>
            <a:ext cx="33284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CC5B8"/>
                </a:solidFill>
                <a:latin typeface="Yu Gothic"/>
              </a:rPr>
              <a:t>ケーススタディフォーマット（実績掲載用）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28600" y="4251960"/>
            <a:ext cx="3657600" cy="2331720"/>
          </a:xfrm>
          <a:prstGeom prst="rect">
            <a:avLst/>
          </a:prstGeom>
          <a:solidFill>
            <a:srgbClr val="22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28600" y="4251960"/>
            <a:ext cx="3657600" cy="36576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8328" y="4306824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C1A16"/>
                </a:solidFill>
                <a:latin typeface="Yu Gothic"/>
              </a:rPr>
              <a:t>マーケ分析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38328" y="4818888"/>
            <a:ext cx="54864" cy="5486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6344" y="4745736"/>
            <a:ext cx="33284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CC5B8"/>
                </a:solidFill>
                <a:latin typeface="Yu Gothic"/>
              </a:rPr>
              <a:t>月次分析レポート × 12本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38328" y="5184648"/>
            <a:ext cx="54864" cy="5486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66344" y="5111496"/>
            <a:ext cx="33284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CC5B8"/>
                </a:solidFill>
                <a:latin typeface="Yu Gothic"/>
              </a:rPr>
              <a:t>KPIダッシュボード（GA4連携）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38328" y="5550408"/>
            <a:ext cx="54864" cy="5486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66344" y="5477256"/>
            <a:ext cx="33284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CC5B8"/>
                </a:solidFill>
                <a:latin typeface="Yu Gothic"/>
              </a:rPr>
              <a:t>SEOキーワード改善提案レポート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38328" y="5916168"/>
            <a:ext cx="54864" cy="5486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66344" y="5843016"/>
            <a:ext cx="33284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CC5B8"/>
                </a:solidFill>
                <a:latin typeface="Yu Gothic"/>
              </a:rPr>
              <a:t>Web広告運用レポート × 12本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059936" y="4251960"/>
            <a:ext cx="3657600" cy="2331720"/>
          </a:xfrm>
          <a:prstGeom prst="rect">
            <a:avLst/>
          </a:prstGeom>
          <a:solidFill>
            <a:srgbClr val="22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059936" y="4251960"/>
            <a:ext cx="3657600" cy="365760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169664" y="4306824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C1A16"/>
                </a:solidFill>
                <a:latin typeface="Yu Gothic"/>
              </a:rPr>
              <a:t>SNS / 動画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169664" y="4818888"/>
            <a:ext cx="54864" cy="54864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97680" y="4745736"/>
            <a:ext cx="33284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CC5B8"/>
                </a:solidFill>
                <a:latin typeface="Yu Gothic"/>
              </a:rPr>
              <a:t>Shorts動画 96本（月8本 × 12ヶ月）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169664" y="5184648"/>
            <a:ext cx="54864" cy="54864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297680" y="5111496"/>
            <a:ext cx="33284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CC5B8"/>
                </a:solidFill>
                <a:latin typeface="Yu Gothic"/>
              </a:rPr>
              <a:t>Instagram / YouTube Shorts アカウント設定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169664" y="5550408"/>
            <a:ext cx="54864" cy="54864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297680" y="5477256"/>
            <a:ext cx="33284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D4AF7A"/>
                </a:solidFill>
                <a:latin typeface="Yu Gothic"/>
              </a:rPr>
              <a:t>▶ 動画制作・SNS運用マニュアル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169664" y="5916168"/>
            <a:ext cx="54864" cy="54864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297680" y="5843016"/>
            <a:ext cx="33284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CC5B8"/>
                </a:solidFill>
                <a:latin typeface="Yu Gothic"/>
              </a:rPr>
              <a:t>撮影ガイドライン・コンテンツテンプレート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891272" y="4251960"/>
            <a:ext cx="3657600" cy="2331720"/>
          </a:xfrm>
          <a:prstGeom prst="rect">
            <a:avLst/>
          </a:prstGeom>
          <a:solidFill>
            <a:srgbClr val="22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891272" y="4251960"/>
            <a:ext cx="3657600" cy="3657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001000" y="4306824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C1A16"/>
                </a:solidFill>
                <a:latin typeface="Yu Gothic"/>
              </a:rPr>
              <a:t>AI / 自動化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01000" y="4818888"/>
            <a:ext cx="54864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129016" y="4745736"/>
            <a:ext cx="33284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CC5B8"/>
                </a:solidFill>
                <a:latin typeface="Yu Gothic"/>
              </a:rPr>
              <a:t>自動ブログ生成システム（GitHub Actions）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01000" y="5184648"/>
            <a:ext cx="54864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129016" y="5111496"/>
            <a:ext cx="33284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CC5B8"/>
                </a:solidFill>
                <a:latin typeface="Yu Gothic"/>
              </a:rPr>
              <a:t>Claude API 連携設定済み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01000" y="5550408"/>
            <a:ext cx="54864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129016" y="5477256"/>
            <a:ext cx="33284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CC5B8"/>
                </a:solidFill>
                <a:latin typeface="Yu Gothic"/>
              </a:rPr>
              <a:t>記事生成プロンプトテンプレート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01000" y="5916168"/>
            <a:ext cx="54864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29016" y="5843016"/>
            <a:ext cx="33284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D4AF7A"/>
                </a:solidFill>
                <a:latin typeface="Yu Gothic"/>
              </a:rPr>
              <a:t>▶ AI自動ブログ運用マニュアル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28600" y="6675120"/>
            <a:ext cx="11731752" cy="109728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11480" y="6693408"/>
            <a:ext cx="113385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C1A16"/>
                </a:solidFill>
                <a:latin typeface="Yu Gothic"/>
              </a:rPr>
              <a:t>▶ マークは「マニュアル」として引き渡す成果物。支援終了後も小野氏が自律運用できる状態を目指します。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A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34747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935A"/>
                </a:solidFill>
                <a:latin typeface="Yu Gothic"/>
              </a:rPr>
              <a:t>SERVICE DETAIL 01 -- LP / LANDING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Yu Mincho"/>
              </a:rPr>
              <a:t>LP（ランディングページ）制作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61872"/>
            <a:ext cx="292608" cy="22860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0" y="1828800"/>
            <a:ext cx="8531352" cy="3474720"/>
          </a:xfrm>
          <a:prstGeom prst="rect">
            <a:avLst/>
          </a:prstGeom>
          <a:solidFill>
            <a:srgbClr val="22201C"/>
          </a:solidFill>
          <a:ln w="9525">
            <a:solidFill>
              <a:srgbClr val="B893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0" y="2377440"/>
            <a:ext cx="85313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D4AF7A"/>
                </a:solidFill>
                <a:latin typeface="Yu Mincho"/>
              </a:rPr>
              <a:t>LP は別途ご覧いただきます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3127248"/>
            <a:ext cx="8531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AAA295"/>
                </a:solidFill>
                <a:latin typeface="Yu Gothic"/>
              </a:rPr>
              <a:t>現在制作中のLPをプロジェクターに投影してご説明します。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657600"/>
            <a:ext cx="85313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66058"/>
                </a:solidFill>
                <a:latin typeface="Yu Gothic"/>
              </a:rPr>
              <a:t>URL:  C:\project\daikonya\index.html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4617720"/>
            <a:ext cx="8531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935A"/>
                </a:solidFill>
                <a:latin typeface="Yu Gothic"/>
              </a:rPr>
              <a:t>制作に含まれる内容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0" y="5047488"/>
            <a:ext cx="64008" cy="64008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497433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5B8"/>
                </a:solidFill>
                <a:latin typeface="Yu Gothic"/>
              </a:rPr>
              <a:t>和モダン × 高級感デザイン（Noto Serif JP）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5047488"/>
            <a:ext cx="64008" cy="64008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497433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5B8"/>
                </a:solidFill>
                <a:latin typeface="Yu Gothic"/>
              </a:rPr>
              <a:t>Hero / PAIN / MISSION / REASON / EXPERTISE / SERVICE / FAQ / CTA の全セクション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0" y="5458968"/>
            <a:ext cx="64008" cy="64008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11680" y="538581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5B8"/>
                </a:solidFill>
                <a:latin typeface="Yu Gothic"/>
              </a:rPr>
              <a:t>スマートフォン対応（レスポンシブ対応）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5458968"/>
            <a:ext cx="64008" cy="64008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538581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5B8"/>
                </a:solidFill>
                <a:latin typeface="Yu Gothic"/>
              </a:rPr>
              <a:t>お問い合わせフォーム（無料相談申込）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28800" y="5870448"/>
            <a:ext cx="64008" cy="64008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11680" y="579729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5B8"/>
                </a:solidFill>
                <a:latin typeface="Yu Gothic"/>
              </a:rPr>
              <a:t>AI自動ブログ機能（プレミアムプランのみ、別途スライド参照）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A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34747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935A"/>
                </a:solidFill>
                <a:latin typeface="Yu Gothic"/>
              </a:rPr>
              <a:t>SERVICE DETAIL 02 -- 公式LINE構築 + LINE広告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Yu Mincho"/>
              </a:rPr>
              <a:t>公式LINE構築 + LINE広告運用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61872"/>
            <a:ext cx="292608" cy="22860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417320"/>
            <a:ext cx="5577840" cy="4297680"/>
          </a:xfrm>
          <a:prstGeom prst="rect">
            <a:avLst/>
          </a:prstGeom>
          <a:solidFill>
            <a:srgbClr val="22201C"/>
          </a:solidFill>
          <a:ln w="12700">
            <a:solidFill>
              <a:srgbClr val="06C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5544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6C755"/>
                </a:solidFill>
                <a:latin typeface="Yu Gothic"/>
              </a:rPr>
              <a:t>公式LINE 構築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139696"/>
            <a:ext cx="73152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066544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5B8"/>
                </a:solidFill>
                <a:latin typeface="Yu Gothic"/>
              </a:rPr>
              <a:t>アカウント設定・プロフィール・アイコン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642616"/>
            <a:ext cx="73152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569464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5B8"/>
                </a:solidFill>
                <a:latin typeface="Yu Gothic"/>
              </a:rPr>
              <a:t>リッチメニュー設計・作成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145536"/>
            <a:ext cx="73152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3072384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5B8"/>
                </a:solidFill>
                <a:latin typeface="Yu Gothic"/>
              </a:rPr>
              <a:t>自動挨拶メッセージ設定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3648456"/>
            <a:ext cx="73152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575304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5B8"/>
                </a:solidFill>
                <a:latin typeface="Yu Gothic"/>
              </a:rPr>
              <a:t>ステップ配信シナリオ設計（5〜8通）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4151376"/>
            <a:ext cx="73152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4078224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5B8"/>
                </a:solidFill>
                <a:latin typeface="Yu Gothic"/>
              </a:rPr>
              <a:t>無料相談予約フロー構築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654296"/>
            <a:ext cx="73152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581144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5B8"/>
                </a:solidFill>
                <a:latin typeface="Yu Gothic"/>
              </a:rPr>
              <a:t>セグメント配信設定（旅館 / 飲食 / 承継検討）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35040" y="1417320"/>
            <a:ext cx="5925312" cy="4297680"/>
          </a:xfrm>
          <a:prstGeom prst="rect">
            <a:avLst/>
          </a:prstGeom>
          <a:solidFill>
            <a:srgbClr val="182618"/>
          </a:solidFill>
          <a:ln w="12700">
            <a:solidFill>
              <a:srgbClr val="06C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0" y="155448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6C755"/>
                </a:solidFill>
                <a:latin typeface="Yu Gothic"/>
              </a:rPr>
              <a:t>LINE広告 運用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192024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D4AF7A"/>
                </a:solidFill>
                <a:latin typeface="Yu Mincho"/>
              </a:rPr>
              <a:t>年間 60万円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2423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88070"/>
                </a:solidFill>
                <a:latin typeface="Yu Gothic"/>
              </a:rPr>
              <a:t>（広告費実費 / 全プラン共通）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2980944"/>
            <a:ext cx="73152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2907792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5B8"/>
                </a:solidFill>
                <a:latin typeface="Yu Gothic"/>
              </a:rPr>
              <a:t>ターゲティング設定（旅館・飲食経営者層）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3483864"/>
            <a:ext cx="73152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3410712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5B8"/>
                </a:solidFill>
                <a:latin typeface="Yu Gothic"/>
              </a:rPr>
              <a:t>クリエイティブ制作（バナー・テキスト）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3986784"/>
            <a:ext cx="73152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913632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5B8"/>
                </a:solidFill>
                <a:latin typeface="Yu Gothic"/>
              </a:rPr>
              <a:t>A/Bテスト実施・最適化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4489704"/>
            <a:ext cx="73152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4416552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5B8"/>
                </a:solidFill>
                <a:latin typeface="Yu Gothic"/>
              </a:rPr>
              <a:t>月次広告レポート（CPL・CPAを追跡）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4992624"/>
            <a:ext cx="73152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4919472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5B8"/>
                </a:solidFill>
                <a:latin typeface="Yu Gothic"/>
              </a:rPr>
              <a:t>LINE登録後のナーチャリング連携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28600" y="5833872"/>
            <a:ext cx="11731752" cy="841248"/>
          </a:xfrm>
          <a:prstGeom prst="rect">
            <a:avLst/>
          </a:prstGeom>
          <a:solidFill>
            <a:srgbClr val="1826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596188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295"/>
                </a:solidFill>
                <a:latin typeface="Yu Gothic"/>
              </a:rPr>
              <a:t>全プランにLINE広告費 60万円/年を含みます。Brain管理費は各プランのBrain人件費に含みます。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A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34747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935A"/>
                </a:solidFill>
                <a:latin typeface="Yu Gothic"/>
              </a:rPr>
              <a:t>SERVICE DETAIL 03 -- ブランディング戦略支援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Yu Mincho"/>
              </a:rPr>
              <a:t>ブランディング戦略支援の内容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61872"/>
            <a:ext cx="292608" cy="22860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417320"/>
            <a:ext cx="5440680" cy="1920240"/>
          </a:xfrm>
          <a:prstGeom prst="rect">
            <a:avLst/>
          </a:prstGeom>
          <a:solidFill>
            <a:srgbClr val="22201C"/>
          </a:solidFill>
          <a:ln w="6350">
            <a:solidFill>
              <a:srgbClr val="B893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52704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555040"/>
                </a:solidFill>
                <a:latin typeface="Yu Mincho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554480"/>
            <a:ext cx="4617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4AF7A"/>
                </a:solidFill>
                <a:latin typeface="Yu Gothic"/>
              </a:rPr>
              <a:t>ブランドコンセプト設計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920240"/>
            <a:ext cx="46177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295"/>
                </a:solidFill>
                <a:latin typeface="Yu Gothic"/>
              </a:rPr>
              <a:t>キャッチコピー・差別化軸・ブランドストーリーの言語化
「なぜ小野氏に頼むべきか」を一言で言えるレベルに落とし込む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0" y="1417320"/>
            <a:ext cx="5440680" cy="1920240"/>
          </a:xfrm>
          <a:prstGeom prst="rect">
            <a:avLst/>
          </a:prstGeom>
          <a:solidFill>
            <a:srgbClr val="22201C"/>
          </a:solidFill>
          <a:ln w="6350">
            <a:solidFill>
              <a:srgbClr val="B893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0760" y="152704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555040"/>
                </a:solidFill>
                <a:latin typeface="Yu Mincho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1554480"/>
            <a:ext cx="4617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4AF7A"/>
                </a:solidFill>
                <a:latin typeface="Yu Gothic"/>
              </a:rPr>
              <a:t>プロフィール・権威付けコンテンツ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1920240"/>
            <a:ext cx="46177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295"/>
                </a:solidFill>
                <a:latin typeface="Yu Gothic"/>
              </a:rPr>
              <a:t>バイオグラフィ制作・実績の数字化・メディア露出戦略
LP掲載用ケーススタディのフォーマット化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" y="3520440"/>
            <a:ext cx="5440680" cy="1920240"/>
          </a:xfrm>
          <a:prstGeom prst="rect">
            <a:avLst/>
          </a:prstGeom>
          <a:solidFill>
            <a:srgbClr val="22201C"/>
          </a:solidFill>
          <a:ln w="6350">
            <a:solidFill>
              <a:srgbClr val="B893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363016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555040"/>
                </a:solidFill>
                <a:latin typeface="Yu Mincho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657600"/>
            <a:ext cx="4617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4AF7A"/>
                </a:solidFill>
                <a:latin typeface="Yu Gothic"/>
              </a:rPr>
              <a:t>発信コンテンツカレンダー設計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023360"/>
            <a:ext cx="46177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295"/>
                </a:solidFill>
                <a:latin typeface="Yu Gothic"/>
              </a:rPr>
              <a:t>何を・いつ・どこで発信するかを3ヶ月単位で設計
Instagram / note / セミナー を統合したテーマ管理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0" y="3520440"/>
            <a:ext cx="5440680" cy="1920240"/>
          </a:xfrm>
          <a:prstGeom prst="rect">
            <a:avLst/>
          </a:prstGeom>
          <a:solidFill>
            <a:srgbClr val="22201C"/>
          </a:solidFill>
          <a:ln w="6350">
            <a:solidFill>
              <a:srgbClr val="B893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80760" y="363016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555040"/>
                </a:solidFill>
                <a:latin typeface="Yu Mincho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3657600"/>
            <a:ext cx="4617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4AF7A"/>
                </a:solidFill>
                <a:latin typeface="Yu Gothic"/>
              </a:rPr>
              <a:t>セミナー・登壇プランニング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4023360"/>
            <a:ext cx="46177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295"/>
                </a:solidFill>
                <a:latin typeface="Yu Gothic"/>
              </a:rPr>
              <a:t>商工会・観光協会・金融機関との連携による登壇機会の創出
年2〜4回の無料セミナー設計（認知→LINE登録への導線）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8600" y="5532120"/>
            <a:ext cx="11731752" cy="1097280"/>
          </a:xfrm>
          <a:prstGeom prst="rect">
            <a:avLst/>
          </a:prstGeom>
          <a:solidFill>
            <a:srgbClr val="22201C"/>
          </a:solidFill>
          <a:ln w="6350">
            <a:solidFill>
              <a:srgbClr val="B893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564184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555040"/>
                </a:solidFill>
                <a:latin typeface="Yu Mincho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669280"/>
            <a:ext cx="109087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4AF7A"/>
                </a:solidFill>
                <a:latin typeface="Yu Gothic"/>
              </a:rPr>
              <a:t>競合モニタリング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6035040"/>
            <a:ext cx="109087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295"/>
                </a:solidFill>
                <a:latin typeface="Yu Gothic"/>
              </a:rPr>
              <a:t>類似コンサルタントの動向把握・差別化ポイントの継続確認
四半期ごとにポジショニングを見直し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A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34747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935A"/>
                </a:solidFill>
                <a:latin typeface="Yu Gothic"/>
              </a:rPr>
              <a:t>SERVICE DETAIL 04 -- 月次マーケ支援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Yu Mincho"/>
              </a:rPr>
              <a:t>月次マーケティング支援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61872"/>
            <a:ext cx="292608" cy="22860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371600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AA295"/>
                </a:solidFill>
                <a:latin typeface="Yu Gothic"/>
              </a:rPr>
              <a:t>Google Analytics / Search Console の計測 + Web広告の運用成果を月次で分析・報告します。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874519"/>
            <a:ext cx="11731752" cy="1298448"/>
          </a:xfrm>
          <a:prstGeom prst="rect">
            <a:avLst/>
          </a:prstGeom>
          <a:solidFill>
            <a:srgbClr val="22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" y="1874519"/>
            <a:ext cx="91440" cy="129844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984247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Yu Gothic"/>
              </a:rPr>
              <a:t>Google Analytics 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386583"/>
            <a:ext cx="11155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295"/>
                </a:solidFill>
                <a:latin typeface="Yu Gothic"/>
              </a:rPr>
              <a:t>LP訪問者数・流入経路・行動フロー・CVR を計測
Goal設定（無料相談フォーム送信）の追跡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" y="3291839"/>
            <a:ext cx="11731752" cy="1298448"/>
          </a:xfrm>
          <a:prstGeom prst="rect">
            <a:avLst/>
          </a:prstGeom>
          <a:solidFill>
            <a:srgbClr val="22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28600" y="3291839"/>
            <a:ext cx="91440" cy="1298448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401567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Yu Gothic"/>
              </a:rPr>
              <a:t>Google Search Console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803903"/>
            <a:ext cx="11155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295"/>
                </a:solidFill>
                <a:latin typeface="Yu Gothic"/>
              </a:rPr>
              <a:t>検索クエリ・表示順位・CTR の可視化
SEOキーワードの改善機会を月次で特定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4709159"/>
            <a:ext cx="11731752" cy="1298448"/>
          </a:xfrm>
          <a:prstGeom prst="rect">
            <a:avLst/>
          </a:prstGeom>
          <a:solidFill>
            <a:srgbClr val="22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28600" y="4709159"/>
            <a:ext cx="91440" cy="1298448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18887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Yu Gothic"/>
              </a:rPr>
              <a:t>Web広告（LINE / Google / Meta）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221223"/>
            <a:ext cx="11155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295"/>
                </a:solidFill>
                <a:latin typeface="Yu Gothic"/>
              </a:rPr>
              <a:t>広告インプレッション・CTR・CPL（1件当たりLINE登録コスト）
月次予算配分の最適化提案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8600" y="6199632"/>
            <a:ext cx="11731752" cy="512064"/>
          </a:xfrm>
          <a:prstGeom prst="rect">
            <a:avLst/>
          </a:prstGeom>
          <a:solidFill>
            <a:srgbClr val="18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6291072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86C1"/>
                </a:solidFill>
                <a:latin typeface="Yu Gothic"/>
              </a:rPr>
              <a:t>月次レポートのアウトプット：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6291072"/>
            <a:ext cx="8412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Yu Gothic"/>
              </a:rPr>
              <a:t>KPIダッシュボード（1枚）  /  改善提案（3点）  /  翌月アクションプラン（1枚）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A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34747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935A"/>
                </a:solidFill>
                <a:latin typeface="Yu Gothic"/>
              </a:rPr>
              <a:t>SERVICE DETAIL 05 -- SNS動画制作・運用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Yu Mincho"/>
              </a:rPr>
              <a:t>SNS動画制作・運用代行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61872"/>
            <a:ext cx="292608" cy="22860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371600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4AF7A"/>
                </a:solidFill>
                <a:latin typeface="Yu Gothic"/>
              </a:rPr>
              <a:t>スタンダード・プレミアムプランに含みます　追加費用：100万円/年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874519"/>
            <a:ext cx="2788920" cy="2377440"/>
          </a:xfrm>
          <a:prstGeom prst="rect">
            <a:avLst/>
          </a:prstGeom>
          <a:solidFill>
            <a:srgbClr val="8B1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993392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Yu Gothic"/>
              </a:rPr>
              <a:t>SHOOT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450592"/>
            <a:ext cx="2560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Yu Gothic"/>
              </a:rPr>
              <a:t>現地撮影
60分 / 月1回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788920"/>
            <a:ext cx="146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55048"/>
                </a:solidFill>
                <a:latin typeface="Yu Gothic"/>
              </a:rPr>
              <a:t>&gt;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27248" y="1874519"/>
            <a:ext cx="2788920" cy="2377440"/>
          </a:xfrm>
          <a:prstGeom prst="rect">
            <a:avLst/>
          </a:prstGeom>
          <a:solidFill>
            <a:srgbClr val="6B25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64408" y="1993392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Yu Gothic"/>
              </a:rPr>
              <a:t>EDIT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64408" y="2450592"/>
            <a:ext cx="2560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Yu Gothic"/>
              </a:rPr>
              <a:t>動画編集
月8本×1分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16168" y="2788920"/>
            <a:ext cx="146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55048"/>
                </a:solidFill>
                <a:latin typeface="Yu Gothic"/>
              </a:rPr>
              <a:t>&gt;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25896" y="1874519"/>
            <a:ext cx="2788920" cy="2377440"/>
          </a:xfrm>
          <a:prstGeom prst="rect">
            <a:avLst/>
          </a:prstGeom>
          <a:solidFill>
            <a:srgbClr val="1A5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63056" y="1993392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Yu Gothic"/>
              </a:rPr>
              <a:t>POST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63056" y="2450592"/>
            <a:ext cx="2560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Yu Gothic"/>
              </a:rPr>
              <a:t>SNS 投稿
Instagram / YouTube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14816" y="2788920"/>
            <a:ext cx="146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55048"/>
                </a:solidFill>
                <a:latin typeface="Yu Gothic"/>
              </a:rPr>
              <a:t>&gt;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24544" y="1874519"/>
            <a:ext cx="2788920" cy="2377440"/>
          </a:xfrm>
          <a:prstGeom prst="rect">
            <a:avLst/>
          </a:prstGeom>
          <a:solidFill>
            <a:srgbClr val="1A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61704" y="1993392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Yu Gothic"/>
              </a:rPr>
              <a:t>REPORT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61704" y="2450592"/>
            <a:ext cx="2560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Yu Gothic"/>
              </a:rPr>
              <a:t>月次分析
再生数・フォロワー推移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8600" y="4434840"/>
            <a:ext cx="1280160" cy="475488"/>
          </a:xfrm>
          <a:prstGeom prst="rect">
            <a:avLst/>
          </a:prstGeom>
          <a:solidFill>
            <a:srgbClr val="8B1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8600" y="452628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Yu Gothic"/>
              </a:rPr>
              <a:t>撮影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554480" y="4434840"/>
            <a:ext cx="10405872" cy="475488"/>
          </a:xfrm>
          <a:prstGeom prst="rect">
            <a:avLst/>
          </a:prstGeom>
          <a:solidFill>
            <a:srgbClr val="22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19072" y="4498848"/>
            <a:ext cx="10058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5B8"/>
                </a:solidFill>
                <a:latin typeface="Yu Gothic"/>
              </a:rPr>
              <a:t>月1回・60分の素材撮影（現地または リモート収録）
撮影テーマは月次コンテンツカレンダーに基づき事前設計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8600" y="4983480"/>
            <a:ext cx="1280160" cy="475488"/>
          </a:xfrm>
          <a:prstGeom prst="rect">
            <a:avLst/>
          </a:prstGeom>
          <a:solidFill>
            <a:srgbClr val="8B1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28600" y="507492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Yu Gothic"/>
              </a:rPr>
              <a:t>制作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554480" y="4983480"/>
            <a:ext cx="10405872" cy="475488"/>
          </a:xfrm>
          <a:prstGeom prst="rect">
            <a:avLst/>
          </a:prstGeom>
          <a:solidFill>
            <a:srgbClr val="22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19072" y="5047488"/>
            <a:ext cx="10058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5B8"/>
                </a:solidFill>
                <a:latin typeface="Yu Gothic"/>
              </a:rPr>
              <a:t>60分素材から月8本の1分Shorts動画を編集
テロップ・BGM・サムネイル制作を含む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8600" y="5532120"/>
            <a:ext cx="1280160" cy="475488"/>
          </a:xfrm>
          <a:prstGeom prst="rect">
            <a:avLst/>
          </a:prstGeom>
          <a:solidFill>
            <a:srgbClr val="8B1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8600" y="562356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Yu Gothic"/>
              </a:rPr>
              <a:t>投稿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554480" y="5532120"/>
            <a:ext cx="10405872" cy="475488"/>
          </a:xfrm>
          <a:prstGeom prst="rect">
            <a:avLst/>
          </a:prstGeom>
          <a:solidFill>
            <a:srgbClr val="22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719072" y="5596128"/>
            <a:ext cx="10058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5B8"/>
                </a:solidFill>
                <a:latin typeface="Yu Gothic"/>
              </a:rPr>
              <a:t>Instagram Reels / YouTube Shorts へ最適化して投稿代行
ハッシュタグ・説明文・ベストタイム投稿を管理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28600" y="6080760"/>
            <a:ext cx="1280160" cy="475488"/>
          </a:xfrm>
          <a:prstGeom prst="rect">
            <a:avLst/>
          </a:prstGeom>
          <a:solidFill>
            <a:srgbClr val="8B1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8600" y="617220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Yu Gothic"/>
              </a:rPr>
              <a:t>効果測定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554480" y="6080760"/>
            <a:ext cx="10405872" cy="475488"/>
          </a:xfrm>
          <a:prstGeom prst="rect">
            <a:avLst/>
          </a:prstGeom>
          <a:solidFill>
            <a:srgbClr val="22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719072" y="6144768"/>
            <a:ext cx="10058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5B8"/>
                </a:solidFill>
                <a:latin typeface="Yu Gothic"/>
              </a:rPr>
              <a:t>再生回数・保存数・プロフィールへの流入数・フォロワー増加を月次報告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A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34747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935A"/>
                </a:solidFill>
                <a:latin typeface="Yu Gothic"/>
              </a:rPr>
              <a:t>SERVICE DETAIL 06 -- AI活用・自動ブログ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Yu Mincho"/>
              </a:rPr>
              <a:t>AI活用・自動ブログ実装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61872"/>
            <a:ext cx="292608" cy="22860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3716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A99FF"/>
                </a:solidFill>
                <a:latin typeface="Yu Gothic"/>
              </a:rPr>
              <a:t>プレミアムプランに含みます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828800"/>
            <a:ext cx="3474720" cy="1554480"/>
          </a:xfrm>
          <a:prstGeom prst="rect">
            <a:avLst/>
          </a:prstGeom>
          <a:solidFill>
            <a:srgbClr val="24293E"/>
          </a:solidFill>
          <a:ln w="952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2240280"/>
            <a:ext cx="3154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Yu Gothic"/>
              </a:rPr>
              <a:t>GitHub Actions
（定期実行）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2377440"/>
            <a:ext cx="3108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8B5CF6"/>
                </a:solidFill>
                <a:latin typeface="Yu Gothic"/>
              </a:rPr>
              <a:t>-&gt;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77640" y="1828800"/>
            <a:ext cx="3474720" cy="1554480"/>
          </a:xfrm>
          <a:prstGeom prst="rect">
            <a:avLst/>
          </a:prstGeom>
          <a:solidFill>
            <a:srgbClr val="2D1F4A"/>
          </a:solidFill>
          <a:ln w="952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60520" y="2240280"/>
            <a:ext cx="3154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Yu Gothic"/>
              </a:rPr>
              <a:t>AI（Claude API）
記事自動生成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52360" y="2377440"/>
            <a:ext cx="3108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8B5CF6"/>
                </a:solidFill>
                <a:latin typeface="Yu Gothic"/>
              </a:rPr>
              <a:t>-&gt;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26680" y="1828800"/>
            <a:ext cx="3474720" cy="1554480"/>
          </a:xfrm>
          <a:prstGeom prst="rect">
            <a:avLst/>
          </a:prstGeom>
          <a:solidFill>
            <a:srgbClr val="1A2A1A"/>
          </a:solidFill>
          <a:ln w="952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09560" y="2240280"/>
            <a:ext cx="3154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Yu Gothic"/>
              </a:rPr>
              <a:t>LP ブログページ
自動公開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3547872"/>
            <a:ext cx="11731752" cy="694944"/>
          </a:xfrm>
          <a:prstGeom prst="rect">
            <a:avLst/>
          </a:prstGeom>
          <a:solidFill>
            <a:srgbClr val="22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28600" y="3547872"/>
            <a:ext cx="91440" cy="69494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62102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AA99FF"/>
                </a:solidFill>
                <a:latin typeface="Yu Gothic"/>
              </a:rPr>
              <a:t>自動ブログの仕組み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3602736"/>
            <a:ext cx="795527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295"/>
                </a:solidFill>
                <a:latin typeface="Yu Gothic"/>
              </a:rPr>
              <a:t>GitHub Actions のcron設定（週1〜2回）でAI APIを呼び出し、旅館・飲食業に関する
記事を自動生成。LPのブログセクションに自動投稿します。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8600" y="4315968"/>
            <a:ext cx="11731752" cy="694944"/>
          </a:xfrm>
          <a:prstGeom prst="rect">
            <a:avLst/>
          </a:prstGeom>
          <a:solidFill>
            <a:srgbClr val="22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28600" y="4315968"/>
            <a:ext cx="91440" cy="69494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3891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AA99FF"/>
                </a:solidFill>
                <a:latin typeface="Yu Gothic"/>
              </a:rPr>
              <a:t>生成コンテンツのテーマ例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4370832"/>
            <a:ext cx="795527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295"/>
                </a:solidFill>
                <a:latin typeface="Yu Gothic"/>
              </a:rPr>
              <a:t>観光DXの最新動向 / 補助金・助成金情報 / 事業承継の事例 / 旅館集客Tipsなど
小野氏の専門性に沿ったトピックでSEO効果を狙います。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28600" y="5084064"/>
            <a:ext cx="11731752" cy="694944"/>
          </a:xfrm>
          <a:prstGeom prst="rect">
            <a:avLst/>
          </a:prstGeom>
          <a:solidFill>
            <a:srgbClr val="22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5084064"/>
            <a:ext cx="91440" cy="69494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515721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AA99FF"/>
                </a:solidFill>
                <a:latin typeface="Yu Gothic"/>
              </a:rPr>
              <a:t>ブログ機能の仕様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0" y="5138928"/>
            <a:ext cx="795527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295"/>
                </a:solidFill>
                <a:latin typeface="Yu Gothic"/>
              </a:rPr>
              <a:t>LPに新セクション追加（Markdown対応）/ RSS配信対応 / 記事一覧・詳細ページ
GitHub上で手動追記・編集も可能なシンプル構成。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8600" y="5852160"/>
            <a:ext cx="11731752" cy="694944"/>
          </a:xfrm>
          <a:prstGeom prst="rect">
            <a:avLst/>
          </a:prstGeom>
          <a:solidFill>
            <a:srgbClr val="22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5852160"/>
            <a:ext cx="91440" cy="69494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592531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AA99FF"/>
                </a:solidFill>
                <a:latin typeface="Yu Gothic"/>
              </a:rPr>
              <a:t>期待効果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5907024"/>
            <a:ext cx="795527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295"/>
                </a:solidFill>
                <a:latin typeface="Yu Gothic"/>
              </a:rPr>
              <a:t>継続的なコンテンツ更新によるSEO改善 / 専門家としての権威付け強化
更新の手間ゼロで「情報を発信し続ける専門家」としてのブランドを維持。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