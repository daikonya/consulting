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1" r:id="rId9"/>
    <p:sldId id="262" r:id="rId10"/>
    <p:sldId id="263" r:id="rId11"/>
    <p:sldId id="273" r:id="rId12"/>
    <p:sldId id="264" r:id="rId13"/>
    <p:sldId id="265" r:id="rId14"/>
    <p:sldId id="266" r:id="rId15"/>
    <p:sldId id="267" r:id="rId16"/>
    <p:sldId id="268" r:id="rId17"/>
    <p:sldId id="269" r:id="rId18"/>
    <p:sldId id="274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E2D210-5C5F-4FD3-BBD2-08E75FB87B2E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B6945F-CB91-4542-A8EA-E16D73DB8B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7077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B6945F-CB91-4542-A8EA-E16D73DB8B3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0277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B6945F-CB91-4542-A8EA-E16D73DB8B3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9928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0" y="0"/>
            <a:ext cx="54864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06240" y="640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Business Proposal  /  2026.05.07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88720"/>
            <a:ext cx="7680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>
                <a:solidFill>
                  <a:srgbClr val="FFFFFF"/>
                </a:solidFill>
                <a:latin typeface="Yu Mincho"/>
              </a:rPr>
              <a:t>旅館・飲食業
コンサルティング
ブランディング戦略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4023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090"/>
                </a:solidFill>
                <a:latin typeface="Yu Gothic"/>
              </a:rPr>
              <a:t>Web戦略 / 集客設計 / サポートプランのご提案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45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提案先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9659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FFFFFF"/>
                </a:solidFill>
                <a:latin typeface="Yu Mincho"/>
              </a:rPr>
              <a:t>小野</a:t>
            </a:r>
            <a:r>
              <a:rPr sz="1600" b="0" dirty="0">
                <a:solidFill>
                  <a:srgbClr val="FFFFFF"/>
                </a:solidFill>
                <a:latin typeface="Yu Mincho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Yu Mincho"/>
              </a:rPr>
              <a:t>順平</a:t>
            </a:r>
            <a:r>
              <a:rPr sz="1600" b="0" dirty="0">
                <a:solidFill>
                  <a:srgbClr val="FFFFFF"/>
                </a:solidFill>
                <a:latin typeface="Yu Mincho"/>
              </a:rPr>
              <a:t> 氏
</a:t>
            </a:r>
            <a:r>
              <a:rPr sz="1600" b="0" dirty="0" err="1">
                <a:solidFill>
                  <a:srgbClr val="FFFFFF"/>
                </a:solidFill>
                <a:latin typeface="Yu Mincho"/>
              </a:rPr>
              <a:t>株式会社TOJISM</a:t>
            </a:r>
            <a:endParaRPr sz="1600" b="0" dirty="0">
              <a:solidFill>
                <a:srgbClr val="FFFFFF"/>
              </a:solidFill>
              <a:latin typeface="Yu Minch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0040" y="3017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提案者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200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 err="1">
                <a:solidFill>
                  <a:srgbClr val="FFFFFF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合同会社Brain</a:t>
            </a:r>
            <a:r>
              <a:rPr sz="1300" b="0" dirty="0">
                <a:solidFill>
                  <a:srgbClr val="FFFFFF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
鵜木 </a:t>
            </a:r>
            <a:r>
              <a:rPr lang="ja-JP" altLang="en-US" sz="1300" dirty="0">
                <a:solidFill>
                  <a:srgbClr val="FFFFFF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寛文</a:t>
            </a:r>
            <a:endParaRPr sz="1300" b="0" dirty="0">
              <a:solidFill>
                <a:srgbClr val="FFFFFF"/>
              </a:solidFill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28600" y="4846320"/>
            <a:ext cx="3383280" cy="1691640"/>
          </a:xfrm>
          <a:prstGeom prst="rect">
            <a:avLst/>
          </a:prstGeom>
          <a:solidFill>
            <a:srgbClr val="282622"/>
          </a:solidFill>
          <a:ln w="9525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本日のゴール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321808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コンサルブランドの方向性に合意し
具体的な支援プランを決定する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C1A16"/>
                </a:solidFill>
                <a:latin typeface="Yu Mincho"/>
              </a:rPr>
              <a:t>本日のアジェンダ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8191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ブランディング戦略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ポジショニング・ターゲット・差別化軸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0" y="181051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41280" y="18745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15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65176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278892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7063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Web戦略・集客ファネル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004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LP / 公式LINE / マーケ計画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0" y="299923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241280" y="306324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15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384048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397764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95935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A16"/>
                </a:solidFill>
                <a:latin typeface="Yu Gothic"/>
              </a:rPr>
              <a:t>サービスプラン比較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3891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ライト / スタンダード / プレミアム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0" y="418795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41280" y="42519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10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5029200"/>
            <a:ext cx="1173175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516636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8935A"/>
                </a:solidFill>
                <a:latin typeface="Yu Minch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480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 err="1">
                <a:solidFill>
                  <a:srgbClr val="1C1A16"/>
                </a:solidFill>
                <a:latin typeface="Yu Gothic"/>
              </a:rPr>
              <a:t>サービス詳細</a:t>
            </a:r>
            <a:endParaRPr sz="1500" b="1" dirty="0">
              <a:solidFill>
                <a:srgbClr val="1C1A16"/>
              </a:solidFill>
              <a:latin typeface="Yu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359"/>
                </a:solidFill>
                <a:latin typeface="Yu Gothic"/>
              </a:rPr>
              <a:t>LP / LINE / ブランディング / マーケ / SNS /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5376672"/>
            <a:ext cx="1463040" cy="329184"/>
          </a:xfrm>
          <a:prstGeom prst="rect">
            <a:avLst/>
          </a:prstGeom>
          <a:solidFill>
            <a:srgbClr val="999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241280" y="54406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Yu Gothic"/>
              </a:rPr>
              <a:t>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01 -- BRANDING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ターゲット戦略：2つの顧客像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669280" cy="4114800"/>
          </a:xfrm>
          <a:prstGeom prst="rect">
            <a:avLst/>
          </a:prstGeom>
          <a:solidFill>
            <a:srgbClr val="22201C"/>
          </a:solidFill>
          <a:ln w="190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727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TARGET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1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経営改善・集客強化を
求めるオーナー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6265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8986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売上・集客に課題を感じている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46557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4015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予約サイト依存から脱却したい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6849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90448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AIやDXを導入したいが方法がわからない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71416"/>
            <a:ext cx="64008" cy="6400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4074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人材採用・定着に悩んでいる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417320"/>
            <a:ext cx="5833872" cy="4114800"/>
          </a:xfrm>
          <a:prstGeom prst="rect">
            <a:avLst/>
          </a:prstGeom>
          <a:solidFill>
            <a:srgbClr val="182A22"/>
          </a:solidFill>
          <a:ln w="19050">
            <a:solidFill>
              <a:srgbClr val="1A7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6480" y="1417320"/>
            <a:ext cx="1371600" cy="411480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14813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C1A16"/>
                </a:solidFill>
                <a:latin typeface="Yu Gothic"/>
              </a:rPr>
              <a:t>NEW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15727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7A5E"/>
                </a:solidFill>
                <a:latin typeface="Yu Gothic"/>
              </a:rPr>
              <a:t>TARGET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874519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事業承継・出口戦略を
検討している経営者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6265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28986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後継者がおらず廃業を検討している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46557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M&amp;A・第三者承継に興味があるが手続きがわからない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96849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39044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引退前に施設の価値を最大化したい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471416"/>
            <a:ext cx="64008" cy="6400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440740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従業員の雇用を守りながら事業を継続させたい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650992"/>
            <a:ext cx="11731752" cy="100584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5742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市場規模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飲食店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約60万店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旅館・ホテル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約5万施設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経営者60歳以上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飲食業 約55%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6035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070"/>
                </a:solidFill>
                <a:latin typeface="Yu Gothic"/>
              </a:rPr>
              <a:t>事業承継課題あり（推計）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62910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約25万事業者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89538" y="3154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555048"/>
                </a:solidFill>
                <a:latin typeface="Yu Gothic"/>
              </a:rPr>
              <a:t>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VISION -- 1年後の姿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Brain支援後、12ヶ月で何が変わるか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5715000" cy="457200"/>
          </a:xfrm>
          <a:prstGeom prst="rect">
            <a:avLst/>
          </a:prstGeom>
          <a:solidFill>
            <a:srgbClr val="333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8599" y="1517904"/>
            <a:ext cx="57149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6359"/>
                </a:solidFill>
                <a:latin typeface="Yu Gothic"/>
              </a:rPr>
              <a:t>現在（Before）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7" y="1444752"/>
            <a:ext cx="5678425" cy="457200"/>
          </a:xfrm>
          <a:prstGeom prst="rect">
            <a:avLst/>
          </a:prstGeom>
          <a:solidFill>
            <a:srgbClr val="18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90487" y="1517904"/>
            <a:ext cx="56784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7A5E"/>
                </a:solidFill>
                <a:latin typeface="Yu Gothic"/>
              </a:rPr>
              <a:t>12ヶ月後（After）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993392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8" y="219456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クライアント獲得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1993392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219456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口コミ・紹介のみ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0172" y="2194561"/>
            <a:ext cx="475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993392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3368" y="219456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LP+LINE+SNSで継続的に獲得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743200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月間新規相談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2743200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28800" y="2944368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0〜1件（不定期）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2743200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29443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月1〜2件のペースに安定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493008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" y="3694176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ブランド認知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3493008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828800" y="3694176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熊本・阿蘇圏のみ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6208" y="3493008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6941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全国（Webで地域制約なし）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4242816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2608" y="4443984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コンテンツ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91640" y="4242816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28800" y="4443984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なし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4242816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73368" y="44439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動画96本+ブログ自動更新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992624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92608" y="5193792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専門家としての権威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91640" y="4992624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828800" y="5193792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口頭説明のみ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8" y="4992624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73368" y="519379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実績・事例・メディア掲載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5742432"/>
            <a:ext cx="1417320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92608" y="5943600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集客にかける時間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742432"/>
            <a:ext cx="4251960" cy="69494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828800" y="594360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77065"/>
                </a:solidFill>
                <a:latin typeface="Yu Gothic"/>
              </a:rPr>
              <a:t>毎回ゼロから手動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36208" y="5742432"/>
            <a:ext cx="5632704" cy="694944"/>
          </a:xfrm>
          <a:prstGeom prst="rect">
            <a:avLst/>
          </a:prstGeom>
          <a:solidFill>
            <a:srgbClr val="142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73368" y="5943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DDAA"/>
                </a:solidFill>
                <a:latin typeface="Yu Gothic"/>
              </a:rPr>
              <a:t>仕組みが自動で動き続ける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6473952"/>
            <a:ext cx="11731752" cy="27432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1480" y="6519672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これらは「仕組み」として残るため、支援終了後も自走し続けます。</a:t>
            </a:r>
          </a:p>
        </p:txBody>
      </p:sp>
      <p:sp>
        <p:nvSpPr>
          <p:cNvPr id="55" name="TextBox 14">
            <a:extLst>
              <a:ext uri="{FF2B5EF4-FFF2-40B4-BE49-F238E27FC236}">
                <a16:creationId xmlns:a16="http://schemas.microsoft.com/office/drawing/2014/main" id="{8147C948-0EC5-EF17-75A3-96F2A1CAB451}"/>
              </a:ext>
            </a:extLst>
          </p:cNvPr>
          <p:cNvSpPr txBox="1"/>
          <p:nvPr/>
        </p:nvSpPr>
        <p:spPr>
          <a:xfrm>
            <a:off x="5861215" y="2920195"/>
            <a:ext cx="475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56" name="TextBox 14">
            <a:extLst>
              <a:ext uri="{FF2B5EF4-FFF2-40B4-BE49-F238E27FC236}">
                <a16:creationId xmlns:a16="http://schemas.microsoft.com/office/drawing/2014/main" id="{8618BD08-EB47-0B2A-08BE-360CFE33816C}"/>
              </a:ext>
            </a:extLst>
          </p:cNvPr>
          <p:cNvSpPr txBox="1"/>
          <p:nvPr/>
        </p:nvSpPr>
        <p:spPr>
          <a:xfrm>
            <a:off x="5861215" y="3689202"/>
            <a:ext cx="475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57" name="TextBox 14">
            <a:extLst>
              <a:ext uri="{FF2B5EF4-FFF2-40B4-BE49-F238E27FC236}">
                <a16:creationId xmlns:a16="http://schemas.microsoft.com/office/drawing/2014/main" id="{E04C14FB-1534-CF35-8C5E-A334DDA239E9}"/>
              </a:ext>
            </a:extLst>
          </p:cNvPr>
          <p:cNvSpPr txBox="1"/>
          <p:nvPr/>
        </p:nvSpPr>
        <p:spPr>
          <a:xfrm>
            <a:off x="5861675" y="4409717"/>
            <a:ext cx="475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58" name="TextBox 14">
            <a:extLst>
              <a:ext uri="{FF2B5EF4-FFF2-40B4-BE49-F238E27FC236}">
                <a16:creationId xmlns:a16="http://schemas.microsoft.com/office/drawing/2014/main" id="{B652BC9D-C54F-ECBD-28C4-4695C0D04F50}"/>
              </a:ext>
            </a:extLst>
          </p:cNvPr>
          <p:cNvSpPr txBox="1"/>
          <p:nvPr/>
        </p:nvSpPr>
        <p:spPr>
          <a:xfrm>
            <a:off x="5854102" y="5186207"/>
            <a:ext cx="475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  <p:sp>
        <p:nvSpPr>
          <p:cNvPr id="59" name="TextBox 14">
            <a:extLst>
              <a:ext uri="{FF2B5EF4-FFF2-40B4-BE49-F238E27FC236}">
                <a16:creationId xmlns:a16="http://schemas.microsoft.com/office/drawing/2014/main" id="{0443F897-9C05-AFBF-1D28-E6D6D200C1B6}"/>
              </a:ext>
            </a:extLst>
          </p:cNvPr>
          <p:cNvSpPr txBox="1"/>
          <p:nvPr/>
        </p:nvSpPr>
        <p:spPr>
          <a:xfrm>
            <a:off x="5856668" y="5938336"/>
            <a:ext cx="475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B8935A"/>
                </a:solidFill>
                <a:latin typeface="Yu Gothic"/>
              </a:rPr>
              <a:t>-&gt;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02 -- WEB STRATEGY /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集客ファネル設計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486400" cy="749808"/>
          </a:xfrm>
          <a:prstGeom prst="rect">
            <a:avLst/>
          </a:prstGeom>
          <a:solidFill>
            <a:srgbClr val="22201C"/>
          </a:solidFill>
          <a:ln w="5080">
            <a:solidFill>
              <a:srgbClr val="444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5B8"/>
                </a:solidFill>
                <a:latin typeface="Yu Gothic"/>
              </a:rPr>
              <a:t>認知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562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Google検索 / セミナー登壇 / 紹介・口コミ / Instagram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1171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31720"/>
            <a:ext cx="5486400" cy="749808"/>
          </a:xfrm>
          <a:prstGeom prst="rect">
            <a:avLst/>
          </a:prstGeom>
          <a:solidFill>
            <a:srgbClr val="282622"/>
          </a:solidFill>
          <a:ln w="1524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4231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7A"/>
                </a:solidFill>
                <a:latin typeface="Yu Gothic"/>
              </a:rPr>
              <a:t>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706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信頼構築・サービス訴求・無料相談CTA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02611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dirty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246120"/>
            <a:ext cx="5486400" cy="749808"/>
          </a:xfrm>
          <a:prstGeom prst="rect">
            <a:avLst/>
          </a:prstGeom>
          <a:solidFill>
            <a:srgbClr val="065028"/>
          </a:solidFill>
          <a:ln w="1524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3337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7A"/>
                </a:solidFill>
                <a:latin typeface="Yu Gothic"/>
              </a:rPr>
              <a:t>公式LINE 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6850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自動フォロー配信・セミナー案内・相談予約導線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95898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dirty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160520"/>
            <a:ext cx="5486400" cy="749808"/>
          </a:xfrm>
          <a:prstGeom prst="rect">
            <a:avLst/>
          </a:prstGeom>
          <a:solidFill>
            <a:srgbClr val="22201C"/>
          </a:solidFill>
          <a:ln w="5080">
            <a:solidFill>
              <a:srgbClr val="444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42519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5B8"/>
                </a:solidFill>
                <a:latin typeface="Yu Gothic"/>
              </a:rPr>
              <a:t>無料相談（60分）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994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課題ヒアリング → プラン提案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85491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935A"/>
                </a:solidFill>
                <a:latin typeface="Yu Gothic"/>
              </a:rPr>
              <a:t>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074920"/>
            <a:ext cx="5486400" cy="749808"/>
          </a:xfrm>
          <a:prstGeom prst="rect">
            <a:avLst/>
          </a:prstGeom>
          <a:solidFill>
            <a:srgbClr val="22201C"/>
          </a:solidFill>
          <a:ln w="5080">
            <a:solidFill>
              <a:srgbClr val="444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51663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5B8"/>
                </a:solidFill>
                <a:latin typeface="Yu Gothic"/>
              </a:rPr>
              <a:t>契約・支援スタート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5138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ライト / スタンダード / プレミアム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1417320"/>
            <a:ext cx="5879592" cy="100584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3640" y="1508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ターゲット市場規模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810512"/>
            <a:ext cx="5577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飲食+旅館・ホテル 約65万事業者 / うち事業承継課題 約25万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2540002"/>
            <a:ext cx="5879592" cy="21031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264973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年間KPI目標（テストマーケ期）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97891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月間LP訪問者数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97891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200〜500 PV（6ヶ月以降）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36296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LINE登録数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36296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月2〜5件（B2Bのため厳選）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74701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無料相談申込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74701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月1〜2件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13105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成約（年間）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13105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</a:rPr>
              <a:t>6〜10件（月1件ペース達成が目標）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09744"/>
            <a:ext cx="5879592" cy="1014984"/>
          </a:xfrm>
          <a:prstGeom prst="rect">
            <a:avLst/>
          </a:prstGeom>
          <a:solidFill>
            <a:srgbClr val="18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3640" y="492704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dirty="0">
                <a:solidFill>
                  <a:srgbClr val="1A7A5E"/>
                </a:solidFill>
                <a:latin typeface="Yu Gothic"/>
              </a:rPr>
              <a:t>B2B集客の特性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164425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 err="1">
                <a:solidFill>
                  <a:srgbClr val="AAA295"/>
                </a:solidFill>
                <a:latin typeface="Yu Gothic"/>
              </a:rPr>
              <a:t>一般消費者向けLINEと異なり、経営者へのリーチはセミナ</a:t>
            </a:r>
            <a:r>
              <a:rPr sz="1100" b="0" dirty="0">
                <a:solidFill>
                  <a:srgbClr val="AAA295"/>
                </a:solidFill>
                <a:latin typeface="Yu Gothic"/>
              </a:rPr>
              <a:t>ー・</a:t>
            </a:r>
            <a:r>
              <a:rPr sz="1100" b="0" dirty="0" err="1">
                <a:solidFill>
                  <a:srgbClr val="AAA295"/>
                </a:solidFill>
                <a:latin typeface="Yu Gothic"/>
              </a:rPr>
              <a:t>紹介が主体</a:t>
            </a:r>
            <a:r>
              <a:rPr sz="1100" b="0" dirty="0">
                <a:solidFill>
                  <a:srgbClr val="AAA295"/>
                </a:solidFill>
                <a:latin typeface="Yu Gothic"/>
              </a:rPr>
              <a:t>。
LINEは温めた見込み客との関係維持ツールとして活用。月1件の成約が
</a:t>
            </a:r>
            <a:r>
              <a:rPr sz="1100" b="0" dirty="0" err="1">
                <a:solidFill>
                  <a:srgbClr val="AAA295"/>
                </a:solidFill>
                <a:latin typeface="Yu Gothic"/>
              </a:rPr>
              <a:t>テストマーケティングの現実的な目標</a:t>
            </a:r>
            <a:r>
              <a:rPr sz="1100" b="0" dirty="0">
                <a:solidFill>
                  <a:srgbClr val="AAA295"/>
                </a:solidFill>
                <a:latin typeface="Yu Gothic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ROI -- 収益シミュレーション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小野氏のコンサル収益シミュレーション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8988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359"/>
                </a:solidFill>
                <a:latin typeface="Yu Gothic"/>
              </a:rPr>
              <a:t>Brain支援後の想定成約数をもとに、小野氏のコンサル事業の年間売上を試算します。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28800"/>
            <a:ext cx="3474720" cy="420624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93852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小野氏のサービス料金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3172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4048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スポットコンサル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F7A"/>
                </a:solidFill>
                <a:latin typeface="Yu Mincho"/>
              </a:rPr>
              <a:t>5万円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75234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2735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エッセンシャル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566160"/>
            <a:ext cx="2011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dirty="0">
                <a:solidFill>
                  <a:srgbClr val="D4AF7A"/>
                </a:solidFill>
                <a:latin typeface="Yu Mincho"/>
              </a:rPr>
              <a:t>7</a:t>
            </a:r>
            <a:r>
              <a:rPr sz="1800" b="0" dirty="0">
                <a:solidFill>
                  <a:srgbClr val="D4AF7A"/>
                </a:solidFill>
                <a:latin typeface="Yu Mincho"/>
              </a:rPr>
              <a:t>万円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62102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3ヶ月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6908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1422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スタンダード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434840"/>
            <a:ext cx="2011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D4AF7A"/>
                </a:solidFill>
                <a:latin typeface="Yu Mincho"/>
              </a:rPr>
              <a:t>1</a:t>
            </a:r>
            <a:r>
              <a:rPr sz="1800" b="0" dirty="0">
                <a:solidFill>
                  <a:srgbClr val="D4AF7A"/>
                </a:solidFill>
                <a:latin typeface="Yu Mincho"/>
              </a:rPr>
              <a:t>5万円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89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3ヶ月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937760"/>
            <a:ext cx="3108960" cy="74980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50109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エグゼクティブ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03520"/>
            <a:ext cx="2011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D4AF7A"/>
                </a:solidFill>
                <a:latin typeface="Yu Mincho"/>
              </a:rPr>
              <a:t>3</a:t>
            </a:r>
            <a:r>
              <a:rPr sz="1800" b="0" dirty="0">
                <a:solidFill>
                  <a:srgbClr val="D4AF7A"/>
                </a:solidFill>
                <a:latin typeface="Yu Mincho"/>
              </a:rPr>
              <a:t>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583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/ 3ヶ月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1828800"/>
            <a:ext cx="3657600" cy="4572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799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6359"/>
                </a:solidFill>
                <a:latin typeface="Yu Gothic"/>
              </a:rPr>
              <a:t>保守シナリオ（年間6件）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2377440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87367" y="24871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スポット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79" y="24871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79" y="24871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 5万円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248716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D4AF7A"/>
                </a:solidFill>
                <a:latin typeface="Yu Gothic"/>
              </a:rPr>
              <a:t>10万円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39" y="2980944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87367" y="30906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エッセンシャル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79" y="30906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7879" y="3090672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× </a:t>
            </a:r>
            <a:r>
              <a:rPr lang="en-US" sz="1000" dirty="0">
                <a:solidFill>
                  <a:srgbClr val="6B6359"/>
                </a:solidFill>
                <a:latin typeface="Yu Gothic"/>
              </a:rPr>
              <a:t>7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万円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79" y="3090672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b="1" dirty="0">
                <a:solidFill>
                  <a:srgbClr val="D4AF7A"/>
                </a:solidFill>
                <a:latin typeface="Yu Gothic"/>
              </a:rPr>
              <a:t>14</a:t>
            </a:r>
            <a:r>
              <a:rPr sz="1100" b="1" dirty="0">
                <a:solidFill>
                  <a:srgbClr val="D4AF7A"/>
                </a:solidFill>
                <a:latin typeface="Yu Gothic"/>
              </a:rPr>
              <a:t>万円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39" y="3584448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087367" y="36941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スタンダード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79" y="369417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1件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79" y="3694176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× </a:t>
            </a:r>
            <a:r>
              <a:rPr lang="en-US" sz="1000" b="0" dirty="0">
                <a:solidFill>
                  <a:srgbClr val="6B6359"/>
                </a:solidFill>
                <a:latin typeface="Yu Gothic"/>
              </a:rPr>
              <a:t>1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5万円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79" y="3694176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b="1" dirty="0">
                <a:solidFill>
                  <a:srgbClr val="D4AF7A"/>
                </a:solidFill>
                <a:latin typeface="Yu Gothic"/>
              </a:rPr>
              <a:t>1</a:t>
            </a:r>
            <a:r>
              <a:rPr sz="1100" b="1" dirty="0">
                <a:solidFill>
                  <a:srgbClr val="D4AF7A"/>
                </a:solidFill>
                <a:latin typeface="Yu Gothic"/>
              </a:rPr>
              <a:t>5万円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187952"/>
            <a:ext cx="3657600" cy="530352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087367" y="42976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エグゼクティブ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40679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1件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79" y="4297680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× </a:t>
            </a:r>
            <a:r>
              <a:rPr lang="en-US" sz="1000" b="0" dirty="0">
                <a:solidFill>
                  <a:srgbClr val="6B6359"/>
                </a:solidFill>
                <a:latin typeface="Yu Gothic"/>
              </a:rPr>
              <a:t>3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0万円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79" y="429768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b="1" dirty="0">
                <a:solidFill>
                  <a:srgbClr val="D4AF7A"/>
                </a:solidFill>
                <a:latin typeface="Yu Gothic"/>
              </a:rPr>
              <a:t>3</a:t>
            </a:r>
            <a:r>
              <a:rPr sz="1100" b="1" dirty="0">
                <a:solidFill>
                  <a:srgbClr val="D4AF7A"/>
                </a:solidFill>
                <a:latin typeface="Yu Gothic"/>
              </a:rPr>
              <a:t>0万円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4828032"/>
            <a:ext cx="3657600" cy="502920"/>
          </a:xfrm>
          <a:prstGeom prst="rect">
            <a:avLst/>
          </a:prstGeom>
          <a:solidFill>
            <a:srgbClr val="223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799" y="4910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7A5E"/>
                </a:solidFill>
                <a:latin typeface="Yu Gothic"/>
              </a:rPr>
              <a:t>年間売上（概算）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79" y="4873752"/>
            <a:ext cx="1234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000" dirty="0">
                <a:solidFill>
                  <a:srgbClr val="27AE60"/>
                </a:solidFill>
                <a:latin typeface="Yu Mincho"/>
              </a:rPr>
              <a:t>69</a:t>
            </a:r>
            <a:r>
              <a:rPr sz="2000" b="0" dirty="0">
                <a:solidFill>
                  <a:srgbClr val="27AE60"/>
                </a:solidFill>
                <a:latin typeface="Yu Mincho"/>
              </a:rPr>
              <a:t>万円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1828800"/>
            <a:ext cx="3657600" cy="457200"/>
          </a:xfrm>
          <a:prstGeom prst="rect">
            <a:avLst/>
          </a:prstGeom>
          <a:solidFill>
            <a:srgbClr val="1C2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01000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7A5E"/>
                </a:solidFill>
                <a:latin typeface="Yu Gothic"/>
              </a:rPr>
              <a:t>目標シナリオ（年間10件）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2377440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73568" y="24871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スポット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24871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24871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×  5万円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248716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8DDAA"/>
                </a:solidFill>
                <a:latin typeface="Yu Gothic"/>
              </a:rPr>
              <a:t>10万円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63840" y="2980944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73568" y="30906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エッセンシャル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30906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3件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3090672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× </a:t>
            </a:r>
            <a:r>
              <a:rPr lang="en-US" sz="1000" dirty="0">
                <a:solidFill>
                  <a:srgbClr val="6B6359"/>
                </a:solidFill>
                <a:latin typeface="Yu Gothic"/>
              </a:rPr>
              <a:t>7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万円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3090672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b="1" dirty="0">
                <a:solidFill>
                  <a:srgbClr val="88DDAA"/>
                </a:solidFill>
                <a:latin typeface="Yu Gothic"/>
              </a:rPr>
              <a:t>21</a:t>
            </a:r>
            <a:r>
              <a:rPr sz="1100" b="1" dirty="0">
                <a:solidFill>
                  <a:srgbClr val="88DDAA"/>
                </a:solidFill>
                <a:latin typeface="Yu Gothic"/>
              </a:rPr>
              <a:t>万円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584448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973568" y="36941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スタンダード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0" y="369417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3件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080" y="3694176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× </a:t>
            </a:r>
            <a:r>
              <a:rPr lang="en-US" sz="1000" b="0" dirty="0">
                <a:solidFill>
                  <a:srgbClr val="6B6359"/>
                </a:solidFill>
                <a:latin typeface="Yu Gothic"/>
              </a:rPr>
              <a:t>1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5万円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98480" y="3694176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b="1" dirty="0">
                <a:solidFill>
                  <a:srgbClr val="88DDAA"/>
                </a:solidFill>
                <a:latin typeface="Yu Gothic"/>
              </a:rPr>
              <a:t>4</a:t>
            </a:r>
            <a:r>
              <a:rPr sz="1100" b="1" dirty="0">
                <a:solidFill>
                  <a:srgbClr val="88DDAA"/>
                </a:solidFill>
                <a:latin typeface="Yu Gothic"/>
              </a:rPr>
              <a:t>5万円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63840" y="4187952"/>
            <a:ext cx="3657600" cy="530352"/>
          </a:xfrm>
          <a:prstGeom prst="rect">
            <a:avLst/>
          </a:prstGeom>
          <a:solidFill>
            <a:srgbClr val="182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973568" y="42976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AAA295"/>
                </a:solidFill>
                <a:latin typeface="Yu Gothic"/>
              </a:rPr>
              <a:t>エグゼクティブ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0" y="42976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2件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84080" y="4297680"/>
            <a:ext cx="10058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× </a:t>
            </a:r>
            <a:r>
              <a:rPr lang="en-US" sz="1000" b="0" dirty="0">
                <a:solidFill>
                  <a:srgbClr val="6B6359"/>
                </a:solidFill>
                <a:latin typeface="Yu Gothic"/>
              </a:rPr>
              <a:t>3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0万円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4297680"/>
            <a:ext cx="777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b="1" dirty="0">
                <a:solidFill>
                  <a:srgbClr val="88DDAA"/>
                </a:solidFill>
                <a:latin typeface="Yu Gothic"/>
              </a:rPr>
              <a:t>6</a:t>
            </a:r>
            <a:r>
              <a:rPr sz="1100" b="1" dirty="0">
                <a:solidFill>
                  <a:srgbClr val="88DDAA"/>
                </a:solidFill>
                <a:latin typeface="Yu Gothic"/>
              </a:rPr>
              <a:t>0万円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63840" y="4828032"/>
            <a:ext cx="3657600" cy="502920"/>
          </a:xfrm>
          <a:prstGeom prst="rect">
            <a:avLst/>
          </a:prstGeom>
          <a:solidFill>
            <a:srgbClr val="1A4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001000" y="4910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7A5E"/>
                </a:solidFill>
                <a:latin typeface="Yu Gothic"/>
              </a:rPr>
              <a:t>年間売上（概算）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5560" y="4873752"/>
            <a:ext cx="1280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000" dirty="0">
                <a:solidFill>
                  <a:srgbClr val="27AE60"/>
                </a:solidFill>
                <a:latin typeface="Yu Mincho"/>
              </a:rPr>
              <a:t>136</a:t>
            </a:r>
            <a:r>
              <a:rPr sz="2000" b="0" dirty="0">
                <a:solidFill>
                  <a:srgbClr val="27AE60"/>
                </a:solidFill>
                <a:latin typeface="Yu Mincho"/>
              </a:rPr>
              <a:t>万円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PAYBACK -- 回収期間と導入価値（補助金活用時）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この投資は割に合うか？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3749039" cy="506120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S6 収益シミュレーション（再掲）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93392"/>
            <a:ext cx="3383280" cy="9144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0848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保守シナリオ（6件/年）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230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D4AF7A"/>
                </a:solidFill>
                <a:latin typeface="Yu Mincho"/>
              </a:rPr>
              <a:t>69万円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72384"/>
            <a:ext cx="3383280" cy="914400"/>
          </a:xfrm>
          <a:prstGeom prst="rect">
            <a:avLst/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1638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6359"/>
                </a:solidFill>
                <a:latin typeface="Yu Gothic"/>
              </a:rPr>
              <a:t>目標シナリオ（10件/年）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11296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7AE60"/>
                </a:solidFill>
                <a:latin typeface="Yu Mincho"/>
              </a:rPr>
              <a:t>136万円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151376"/>
            <a:ext cx="3383280" cy="9144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24281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LTV込み 保守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D4AF7A"/>
                </a:solidFill>
                <a:latin typeface="Yu Mincho"/>
              </a:rPr>
              <a:t>約100万円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230368"/>
            <a:ext cx="3383280" cy="914400"/>
          </a:xfrm>
          <a:prstGeom prst="rect">
            <a:avLst/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3218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LTV込み 目標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6928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7AE60"/>
                </a:solidFill>
                <a:latin typeface="Yu Mincho"/>
              </a:rPr>
              <a:t>約200万円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6359"/>
                </a:solidFill>
                <a:latin typeface="Yu Gothic"/>
              </a:rPr>
              <a:t>vs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1417320"/>
            <a:ext cx="7296912" cy="5061204"/>
          </a:xfrm>
          <a:prstGeom prst="rect">
            <a:avLst/>
          </a:prstGeom>
          <a:solidFill>
            <a:srgbClr val="22201C"/>
          </a:solidFill>
          <a:ln w="9525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46320" y="1536192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補助金活用時の実質コストと回収期間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1920240"/>
            <a:ext cx="6931152" cy="987552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0" y="1993392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6B6359"/>
                </a:solidFill>
                <a:latin typeface="Yu Gothic"/>
              </a:rPr>
              <a:t>年間実質自己負担（スタンダード以上・初年度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2860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SNS実費のみ  ＝  約20万円/年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1993392"/>
            <a:ext cx="2468880" cy="804672"/>
          </a:xfrm>
          <a:prstGeom prst="rect">
            <a:avLst/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0" y="2029968"/>
            <a:ext cx="2331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dirty="0">
                <a:solidFill>
                  <a:srgbClr val="1A7A5E"/>
                </a:solidFill>
                <a:latin typeface="Yu Gothic"/>
              </a:rPr>
              <a:t>LINE広告費60万は
</a:t>
            </a:r>
            <a:r>
              <a:rPr sz="950" b="0" dirty="0" err="1">
                <a:solidFill>
                  <a:srgbClr val="1A7A5E"/>
                </a:solidFill>
                <a:latin typeface="Yu Gothic"/>
              </a:rPr>
              <a:t>Brain負担（初年度</a:t>
            </a:r>
            <a:r>
              <a:rPr sz="950" b="0" dirty="0">
                <a:solidFill>
                  <a:srgbClr val="1A7A5E"/>
                </a:solidFill>
                <a:latin typeface="Yu Gothic"/>
              </a:rPr>
              <a:t>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2907792"/>
            <a:ext cx="6931152" cy="78638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83480" y="298094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Year 1（保守）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9809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収益 69万 ー コスト 20万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1012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7AE60"/>
                </a:solidFill>
                <a:latin typeface="Yu Mincho"/>
              </a:rPr>
              <a:t>＋49万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3649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  <a:latin typeface="Yu Gothic"/>
              </a:rPr>
              <a:t>初年度から黒字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3776472"/>
            <a:ext cx="6931152" cy="78638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83480" y="384962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Year 1（目標）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84962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収益136万 ー コスト 20万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17880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7AE60"/>
                </a:solidFill>
                <a:latin typeface="Yu Mincho"/>
              </a:rPr>
              <a:t>＋116万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23367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  <a:latin typeface="Yu Gothic"/>
              </a:rPr>
              <a:t>大幅黒字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645152"/>
            <a:ext cx="6931152" cy="78638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983480" y="47183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Year 2（LTV込）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7183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収益200万 ー コスト 72万※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80" y="50474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7AE60"/>
                </a:solidFill>
                <a:latin typeface="Yu Mincho"/>
              </a:rPr>
              <a:t>＋128万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023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  <a:latin typeface="Yu Gothic"/>
              </a:rPr>
              <a:t>安定黒字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5513832"/>
            <a:ext cx="6931152" cy="786384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83480" y="558698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Year 3 以降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55869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359"/>
                </a:solidFill>
                <a:latin typeface="Yu Gothic"/>
              </a:rPr>
              <a:t>仕組みが自走 / コスト逓減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59161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4AF7A"/>
                </a:solidFill>
                <a:latin typeface="Yu Mincho"/>
              </a:rPr>
              <a:t>加速度的に回収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6320" y="6261800"/>
            <a:ext cx="7040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>
                <a:solidFill>
                  <a:srgbClr val="666058"/>
                </a:solidFill>
                <a:latin typeface="Yu Gothic"/>
              </a:rPr>
              <a:t>※Year2以降のコスト72万 ＝ LINE広告60万（自己負担）＋ SNS実費12万（機材費不要のため）</a:t>
            </a:r>
          </a:p>
        </p:txBody>
      </p:sp>
      <p:sp>
        <p:nvSpPr>
          <p:cNvPr id="52" name="TextBox 12">
            <a:extLst>
              <a:ext uri="{FF2B5EF4-FFF2-40B4-BE49-F238E27FC236}">
                <a16:creationId xmlns:a16="http://schemas.microsoft.com/office/drawing/2014/main" id="{C4C2CDE5-41C0-26B3-86C4-50483698B8D7}"/>
              </a:ext>
            </a:extLst>
          </p:cNvPr>
          <p:cNvSpPr txBox="1"/>
          <p:nvPr/>
        </p:nvSpPr>
        <p:spPr>
          <a:xfrm>
            <a:off x="411353" y="6169429"/>
            <a:ext cx="31089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6B6359"/>
                </a:solidFill>
                <a:latin typeface="Yu Gothic"/>
              </a:rPr>
              <a:t>LTV = Life Time Value（</a:t>
            </a:r>
            <a:r>
              <a:rPr lang="ja-JP" altLang="en-US" sz="1000" dirty="0">
                <a:solidFill>
                  <a:srgbClr val="6B6359"/>
                </a:solidFill>
                <a:latin typeface="Yu Gothic"/>
              </a:rPr>
              <a:t>顧客生涯価値）</a:t>
            </a:r>
            <a:endParaRPr sz="1000" b="0" dirty="0">
              <a:solidFill>
                <a:srgbClr val="6B6359"/>
              </a:solidFill>
              <a:latin typeface="Yu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6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8A1A"/>
                </a:solidFill>
                <a:latin typeface="Yu Gothic"/>
              </a:rPr>
              <a:t>FEE STRATEGY -- コンサルフィー戦略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フィー設定の現状と改定タイミングの提案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57784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8A1A"/>
                </a:solidFill>
                <a:latin typeface="Yu Gothic"/>
              </a:rPr>
              <a:t>現在のフィー（月換算）と市場相場の比較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01952"/>
            <a:ext cx="1188720" cy="320040"/>
          </a:xfrm>
          <a:prstGeom prst="rect">
            <a:avLst/>
          </a:prstGeom>
          <a:solidFill>
            <a:srgbClr val="332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938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プラン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1901952"/>
            <a:ext cx="1325880" cy="320040"/>
          </a:xfrm>
          <a:prstGeom prst="rect">
            <a:avLst/>
          </a:prstGeom>
          <a:solidFill>
            <a:srgbClr val="332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91640" y="193852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現在（月換算）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901952"/>
            <a:ext cx="1463040" cy="320040"/>
          </a:xfrm>
          <a:prstGeom prst="rect">
            <a:avLst/>
          </a:prstGeom>
          <a:solidFill>
            <a:srgbClr val="332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19385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市場相場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80" y="1901952"/>
            <a:ext cx="914400" cy="320040"/>
          </a:xfrm>
          <a:prstGeom prst="rect">
            <a:avLst/>
          </a:prstGeom>
          <a:solidFill>
            <a:srgbClr val="332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193852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乖離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86000"/>
            <a:ext cx="5212080" cy="38404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35000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Yu Gothic"/>
              </a:rPr>
              <a:t>エッセンシャル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3500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8A1A"/>
                </a:solidFill>
                <a:latin typeface="Yu Gothic"/>
              </a:rPr>
              <a:t>2.3万/月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350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10〜20万/月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500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0392B"/>
                </a:solidFill>
                <a:latin typeface="Yu Gothic"/>
              </a:rPr>
              <a:t>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212080" cy="38404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80720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Yu Gothic"/>
              </a:rPr>
              <a:t>スタンダード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28072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8A1A"/>
                </a:solidFill>
                <a:latin typeface="Yu Gothic"/>
              </a:rPr>
              <a:t>5万/月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8072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15〜30万/月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072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0392B"/>
                </a:solidFill>
                <a:latin typeface="Yu Gothic"/>
              </a:rPr>
              <a:t>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00400"/>
            <a:ext cx="5212080" cy="384048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264408"/>
            <a:ext cx="12801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 err="1">
                <a:solidFill>
                  <a:srgbClr val="FFFFFF"/>
                </a:solidFill>
                <a:latin typeface="Yu Gothic"/>
              </a:rPr>
              <a:t>エグゼクティブ</a:t>
            </a:r>
            <a:endParaRPr sz="1050" b="0" dirty="0">
              <a:solidFill>
                <a:srgbClr val="FFFFFF"/>
              </a:solidFill>
              <a:latin typeface="Yu Gothic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691640" y="326440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8A1A"/>
                </a:solidFill>
                <a:latin typeface="Yu Gothic"/>
              </a:rPr>
              <a:t>10万/月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32644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359"/>
                </a:solidFill>
                <a:latin typeface="Yu Gothic"/>
              </a:rPr>
              <a:t>20〜50万/月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2644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0392B"/>
                </a:solidFill>
                <a:latin typeface="Yu Gothic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785247"/>
            <a:ext cx="64419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6B6359"/>
                </a:solidFill>
                <a:latin typeface="Yu Gothic"/>
              </a:rPr>
              <a:t>現在の設定は市場参入価格として妥当。ただし中長期では継続性のためにも改定が必要</a:t>
            </a:r>
            <a:r>
              <a:rPr sz="1000" b="0" dirty="0">
                <a:solidFill>
                  <a:srgbClr val="6B6359"/>
                </a:solidFill>
                <a:latin typeface="Yu Gothic"/>
              </a:rPr>
              <a:t>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17320"/>
            <a:ext cx="5971032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72200" y="153619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8A1A"/>
                </a:solidFill>
                <a:latin typeface="Yu Gothic"/>
              </a:rPr>
              <a:t>フィー改定のトリガー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901952"/>
            <a:ext cx="5605272" cy="1645920"/>
          </a:xfrm>
          <a:prstGeom prst="rect">
            <a:avLst/>
          </a:prstGeom>
          <a:solidFill>
            <a:srgbClr val="2E220E"/>
          </a:solidFill>
          <a:ln w="15240">
            <a:solidFill>
              <a:srgbClr val="E68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80" y="20116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8A1A"/>
                </a:solidFill>
                <a:latin typeface="Yu Mincho"/>
              </a:rPr>
              <a:t>月次の新規依頼が平均 3件 を超えたとき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24688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B888"/>
                </a:solidFill>
                <a:latin typeface="Yu Gothic"/>
              </a:rPr>
              <a:t>需要が供給を超え始めるタイミング＝価格交渉力が最大になる瞬間。
このシグナルを見逃さず、次の契約更新時に改定を告知する。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4075827"/>
            <a:ext cx="11731752" cy="365760"/>
          </a:xfrm>
          <a:prstGeom prst="rect">
            <a:avLst/>
          </a:prstGeom>
          <a:solidFill>
            <a:srgbClr val="28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41489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935A"/>
                </a:solidFill>
                <a:latin typeface="Yu Gothic"/>
              </a:rPr>
              <a:t>フィー改定ロードマップ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4514739"/>
            <a:ext cx="3840480" cy="1965960"/>
          </a:xfrm>
          <a:prstGeom prst="rect">
            <a:avLst/>
          </a:prstGeom>
          <a:solidFill>
            <a:srgbClr val="26231E"/>
          </a:solidFill>
          <a:ln w="9525">
            <a:solidFill>
              <a:srgbClr val="6B63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28600" y="4514739"/>
            <a:ext cx="3840480" cy="384048"/>
          </a:xfrm>
          <a:prstGeom prst="rect">
            <a:avLst/>
          </a:prstGeom>
          <a:solidFill>
            <a:srgbClr val="6B63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8328" y="4569603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A16"/>
                </a:solidFill>
                <a:latin typeface="Yu Gothic"/>
              </a:rPr>
              <a:t>Phase 1
0〜12ヶ月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7360" y="4587891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市場参入フェーズ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008515"/>
            <a:ext cx="35844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現在の料金で実績積み上げ
口コミ・紹介・SNSでブランド確立
ケーススタディを蓄積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33088" y="4514739"/>
            <a:ext cx="3840480" cy="1965960"/>
          </a:xfrm>
          <a:prstGeom prst="rect">
            <a:avLst/>
          </a:prstGeom>
          <a:solidFill>
            <a:srgbClr val="2A220A"/>
          </a:solidFill>
          <a:ln w="9525">
            <a:solidFill>
              <a:srgbClr val="E68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133088" y="4514739"/>
            <a:ext cx="3840480" cy="384048"/>
          </a:xfrm>
          <a:prstGeom prst="rect">
            <a:avLst/>
          </a:prstGeom>
          <a:solidFill>
            <a:srgbClr val="E6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42816" y="4569603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A16"/>
                </a:solidFill>
                <a:latin typeface="Yu Gothic"/>
              </a:rPr>
              <a:t>Phase 2
12ヶ月〜
（3件超えが目安）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41848" y="4587891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フィー改定フェーズ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0248" y="5008515"/>
            <a:ext cx="35844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エッセンシャル  7万  →  12万（＋71%）
スタンダード  15万  →  25万（＋67%）
エグゼクティブ  30万  →  50万（＋67%）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37576" y="4514739"/>
            <a:ext cx="3840480" cy="1965960"/>
          </a:xfrm>
          <a:prstGeom prst="rect">
            <a:avLst/>
          </a:prstGeom>
          <a:solidFill>
            <a:srgbClr val="1A2A1A"/>
          </a:solidFill>
          <a:ln w="9525">
            <a:solidFill>
              <a:srgbClr val="1A7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037576" y="4514739"/>
            <a:ext cx="3840480" cy="384048"/>
          </a:xfrm>
          <a:prstGeom prst="rect">
            <a:avLst/>
          </a:prstGeom>
          <a:solidFill>
            <a:srgbClr val="1A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147304" y="4569603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C1A16"/>
                </a:solidFill>
                <a:latin typeface="Yu Gothic"/>
              </a:rPr>
              <a:t>Phase 3
24ヶ月〜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46336" y="4587891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プレミアム化フェーズ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5008515"/>
            <a:ext cx="35844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事業承継・M&amp;A支援など高単価領域へ
成果報酬型の組み合わせも検討
紹介報酬制度で自然増を設計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6416691"/>
            <a:ext cx="11731752" cy="457200"/>
          </a:xfrm>
          <a:prstGeom prst="rect">
            <a:avLst/>
          </a:prstGeom>
          <a:solidFill>
            <a:srgbClr val="2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1480" y="650813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8A1A"/>
                </a:solidFill>
                <a:latin typeface="Yu Gothic"/>
              </a:rPr>
              <a:t>改定後の試算：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6508131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目標10件 × 改定後単価（平均30万/契約）＝ 年間 約300万円  ／  補助金ありの実費80万と比較すると ROI 375%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03 -- SERVICE PLANS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C1A16"/>
                </a:solidFill>
                <a:latin typeface="Yu Mincho"/>
              </a:rPr>
              <a:t>サービスプラン比較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2834640" cy="1097280"/>
          </a:xfrm>
          <a:prstGeom prst="rect">
            <a:avLst/>
          </a:prstGeom>
          <a:solidFill>
            <a:srgbClr val="EEEAE3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154680" y="1417320"/>
            <a:ext cx="2880360" cy="1097280"/>
          </a:xfrm>
          <a:prstGeom prst="rect">
            <a:avLst/>
          </a:prstGeom>
          <a:solidFill>
            <a:srgbClr val="F0EDE8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64408" y="166420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A16"/>
                </a:solidFill>
                <a:latin typeface="Yu Mincho"/>
              </a:rPr>
              <a:t>ライト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2029968"/>
            <a:ext cx="2697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8935A"/>
                </a:solidFill>
                <a:latin typeface="Yu Gothic"/>
              </a:rPr>
              <a:t>150万円/年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17320"/>
            <a:ext cx="2880360" cy="1097280"/>
          </a:xfrm>
          <a:prstGeom prst="rect">
            <a:avLst/>
          </a:prstGeom>
          <a:solidFill>
            <a:srgbClr val="26231E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8" y="166420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Yu Mincho"/>
              </a:rPr>
              <a:t>スタンダード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029968"/>
            <a:ext cx="2697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D4AF7A"/>
                </a:solidFill>
                <a:latin typeface="Yu Gothic"/>
              </a:rPr>
              <a:t>45</a:t>
            </a:r>
            <a:r>
              <a:rPr sz="1400" b="1" dirty="0">
                <a:solidFill>
                  <a:srgbClr val="D4AF7A"/>
                </a:solidFill>
                <a:latin typeface="Yu Gothic"/>
              </a:rPr>
              <a:t>0万円/年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417320"/>
            <a:ext cx="2862072" cy="1097280"/>
          </a:xfrm>
          <a:prstGeom prst="rect">
            <a:avLst/>
          </a:prstGeom>
          <a:solidFill>
            <a:srgbClr val="1C1A16"/>
          </a:solidFill>
          <a:ln w="635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08008" y="1664208"/>
            <a:ext cx="2679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FFFFFF"/>
                </a:solidFill>
                <a:latin typeface="Yu Mincho"/>
              </a:rPr>
              <a:t>プレミアム</a:t>
            </a:r>
            <a:endParaRPr sz="1800" b="0" dirty="0">
              <a:solidFill>
                <a:srgbClr val="FFFFFF"/>
              </a:solidFill>
              <a:latin typeface="Yu Mincho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208008" y="2029968"/>
            <a:ext cx="2679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D4AF7A"/>
                </a:solidFill>
                <a:latin typeface="Yu Gothic"/>
              </a:rPr>
              <a:t>80</a:t>
            </a:r>
            <a:r>
              <a:rPr sz="1400" b="1" dirty="0">
                <a:solidFill>
                  <a:srgbClr val="D4AF7A"/>
                </a:solidFill>
                <a:latin typeface="Yu Gothic"/>
              </a:rPr>
              <a:t>0万円/年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2578608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8328" y="268833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支援期間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2578608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46120" y="268833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2ヶ月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578608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0" y="268833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6ヶ月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2578608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89720" y="2688336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12ヶ月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3072384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8328" y="318211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LP制作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3072384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46120" y="318211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072384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0" y="318211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98280" y="3072384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89720" y="3182112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3566160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8328" y="367588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公式LINE構築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54680" y="3566160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46120" y="367588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基本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3566160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0" y="367588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フル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3566160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89720" y="367588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フル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4059936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38328" y="416966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LINE広告 60万/年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54680" y="4059936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46120" y="416966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1A16"/>
                </a:solidFill>
                <a:latin typeface="Yu Gothic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4059936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416966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59936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189720" y="4169664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4553712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38328" y="46634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ブランディング戦略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553712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46120" y="4663440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4553712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17920" y="4663440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4553712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89720" y="466344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5047488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8328" y="515721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月次マーケ支援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54680" y="5047488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46120" y="515721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6480" y="5047488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17920" y="515721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Yu Gothic"/>
              </a:rPr>
              <a:t>4ヶ月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047488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189720" y="5157216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12ヶ月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5541264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38328" y="565099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SNS動画制作・運用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54680" y="5541264"/>
            <a:ext cx="28803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46120" y="565099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26480" y="5541264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5650992"/>
            <a:ext cx="2715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Yu Gothic"/>
              </a:rPr>
              <a:t>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98280" y="5541264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89720" y="5650992"/>
            <a:ext cx="2697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dirty="0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" y="6035040"/>
            <a:ext cx="2834640" cy="493776"/>
          </a:xfrm>
          <a:prstGeom prst="rect">
            <a:avLst/>
          </a:prstGeom>
          <a:solidFill>
            <a:srgbClr val="EEEAE3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38328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A16"/>
                </a:solidFill>
                <a:latin typeface="Yu Gothic"/>
              </a:rPr>
              <a:t>AI活用・自動ブログ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54680" y="6035040"/>
            <a:ext cx="2880360" cy="493776"/>
          </a:xfrm>
          <a:prstGeom prst="rect">
            <a:avLst/>
          </a:prstGeom>
          <a:solidFill>
            <a:srgbClr val="FAF8F4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46120" y="614476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126480" y="6035040"/>
            <a:ext cx="2880360" cy="493776"/>
          </a:xfrm>
          <a:prstGeom prst="rect">
            <a:avLst/>
          </a:prstGeom>
          <a:solidFill>
            <a:srgbClr val="22201C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217920" y="614476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088"/>
                </a:solidFill>
                <a:latin typeface="Yu Gothic"/>
              </a:rPr>
              <a:t>-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98280" y="6035040"/>
            <a:ext cx="2862072" cy="493776"/>
          </a:xfrm>
          <a:prstGeom prst="rect">
            <a:avLst/>
          </a:prstGeom>
          <a:solidFill>
            <a:srgbClr val="1C1A16"/>
          </a:solidFill>
          <a:ln w="5080">
            <a:solidFill>
              <a:srgbClr val="DD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189720" y="614476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4AF7A"/>
                </a:solidFill>
                <a:latin typeface="Yu Gothic"/>
              </a:rPr>
              <a:t>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DELIVERABLES -- 成果物一覧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 err="1">
                <a:solidFill>
                  <a:srgbClr val="FFFFFF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このプランで手元に残るもの（プレミア</a:t>
            </a:r>
            <a:r>
              <a:rPr lang="ja-JP" altLang="en-US" sz="2600" b="0" dirty="0">
                <a:solidFill>
                  <a:srgbClr val="FFFFFF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ムプラン例</a:t>
            </a:r>
            <a:r>
              <a:rPr sz="2600" b="0" dirty="0">
                <a:solidFill>
                  <a:srgbClr val="FFFFFF"/>
                </a:solidFill>
                <a:latin typeface="游明朝" panose="02020400000000000000" pitchFamily="18" charset="-128"/>
                <a:ea typeface="游明朝" panose="02020400000000000000" pitchFamily="18" charset="-128"/>
              </a:rPr>
              <a:t>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89888"/>
            <a:ext cx="11521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200" b="0" dirty="0">
                <a:solidFill>
                  <a:srgbClr val="6B6359"/>
                </a:solidFill>
                <a:latin typeface="Yu Gothic"/>
              </a:rPr>
              <a:t>契約が終了した後も、</a:t>
            </a:r>
            <a:r>
              <a:rPr sz="1200" b="0" dirty="0" err="1">
                <a:solidFill>
                  <a:srgbClr val="6B6359"/>
                </a:solidFill>
                <a:latin typeface="Yu Gothic"/>
              </a:rPr>
              <a:t>これらの「仕組み」と「資産」が小野氏のビジネスを支え続けます</a:t>
            </a:r>
            <a:r>
              <a:rPr sz="1200" b="0" dirty="0">
                <a:solidFill>
                  <a:srgbClr val="6B6359"/>
                </a:solidFill>
                <a:latin typeface="Yu Gothic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78308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3657600" cy="3657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" y="1837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Web / 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235000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" y="22768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LP本番公開（和モダン高級感デザイン）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" y="271576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344" y="26426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ブログ機能（AI自動投稿・記事一覧・詳細ページ）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" y="308152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" y="300837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お問い合わせフォーム（無料相談導線）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" y="3447288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6344" y="33741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Google Analytics 4 / Search Console 計測環境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59936" y="178308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59936" y="1783080"/>
            <a:ext cx="3657600" cy="36576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9664" y="1837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公式LINE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9664" y="235000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0" y="22768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公式アカウント一式（リッチメニュー含む）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9664" y="271576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97680" y="26426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ステップ配信シナリオ 5〜8通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9664" y="308152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97680" y="300837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無料相談予約フロー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4" y="344728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0" y="33741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LINE広告アカウント設定済み環境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4" y="3813048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80" y="37398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▶ LINE運用・広告マニュアル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91272" y="178308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891272" y="1783080"/>
            <a:ext cx="3657600" cy="365760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01000" y="1837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ブランディング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235000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29016" y="22768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ブランドコンセプトシート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71576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29016" y="26426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プロフィール文（LP・SNS・名刺用）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08152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129016" y="300837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コンテンツカレンダー（3ヶ月分）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3447288"/>
            <a:ext cx="54864" cy="54864"/>
          </a:xfrm>
          <a:prstGeom prst="rect">
            <a:avLst/>
          </a:prstGeom>
          <a:solidFill>
            <a:srgbClr val="D4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29016" y="33741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ケーススタディフォーマット（実績掲載用）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25196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28600" y="4251960"/>
            <a:ext cx="36576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8328" y="4306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マーケ分析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" y="481888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6344" y="47457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月次分析レポート × 12本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8" y="518464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66344" y="51114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KPIダッシュボード（GA4連携）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" y="555040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66344" y="54772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SEOキーワード改善提案レポート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8328" y="5916168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66344" y="58430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Web広告運用レポート × 12本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59936" y="425196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059936" y="4251960"/>
            <a:ext cx="3657600" cy="36576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69664" y="4306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SNS / 動画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9664" y="481888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97680" y="47457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Shorts動画 96本（月8本 × 12ヶ月）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69664" y="518464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297680" y="51114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Instagram / YouTube Shorts アカウント設定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69664" y="555040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97680" y="54772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▶ 動画制作・SNS運用マニュアル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69664" y="5916168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97680" y="58430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撮影ガイドライン・コンテンツテンプレート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91272" y="4251960"/>
            <a:ext cx="3657600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891272" y="4251960"/>
            <a:ext cx="365760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001000" y="4306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AI / 自動化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01000" y="481888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129016" y="474573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自動ブログ生成システム（GitHub Actions）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01000" y="518464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29016" y="511149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Claude API 連携設定済み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01000" y="555040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29016" y="547725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記事生成プロンプトテンプレート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01000" y="5916168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129016" y="5843016"/>
            <a:ext cx="33284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4AF7A"/>
                </a:solidFill>
                <a:latin typeface="Yu Gothic"/>
              </a:rPr>
              <a:t>▶ AI自動ブログ運用マニュアル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" y="6675120"/>
            <a:ext cx="11731752" cy="10972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11480" y="6693408"/>
            <a:ext cx="11338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C1A16"/>
                </a:solidFill>
                <a:latin typeface="Yu Gothic"/>
              </a:rPr>
              <a:t>▶ マークは「マニュアル」として引き渡す成果物。支援終了後も小野氏が自律運用できる状態を目指します。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04 -- SERVICE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サービス詳細 一覧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3749039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3749039" cy="347472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" y="14721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C1A16"/>
                </a:solidFill>
                <a:latin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72184"/>
            <a:ext cx="30906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LP制作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" y="2039112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1947672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和モダン×高級感デザイン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2478024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" y="2386584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お問い合わせフォーム・CTA設計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" y="2916936"/>
            <a:ext cx="54864" cy="54864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1208" y="2825496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AI自動ブログ機能（プレミアム）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34015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359"/>
                </a:solidFill>
                <a:latin typeface="Yu Gothic"/>
              </a:rPr>
              <a:t>対象プラン：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3383280"/>
            <a:ext cx="2560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8935A"/>
                </a:solidFill>
                <a:latin typeface="Yu Gothic"/>
              </a:rPr>
              <a:t>ライト  /  スタンダード  /  プレミアム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8808" y="1417320"/>
            <a:ext cx="3749039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78808" y="1417320"/>
            <a:ext cx="3749039" cy="34747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88536" y="14721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C1A16"/>
                </a:solidFill>
                <a:latin typeface="Yu Gothi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1472184"/>
            <a:ext cx="30906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公式LINE構築＋広告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2039112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71416" y="1947672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ステップ配信シナリオ 5〜8通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478024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71416" y="2386584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無料相談予約フロー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2916936"/>
            <a:ext cx="54864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71416" y="2825496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LINE広告運用（初年度Brain負担）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4015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359"/>
                </a:solidFill>
                <a:latin typeface="Yu Gothic"/>
              </a:rPr>
              <a:t>対象プラン：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3383280"/>
            <a:ext cx="2560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C755"/>
                </a:solidFill>
                <a:latin typeface="Yu Gothic"/>
              </a:rPr>
              <a:t>ライト  /  スタンダード  /  プレミアム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9016" y="1417320"/>
            <a:ext cx="3749039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29016" y="1417320"/>
            <a:ext cx="3749039" cy="347472"/>
          </a:xfrm>
          <a:prstGeom prst="rect">
            <a:avLst/>
          </a:prstGeom>
          <a:solidFill>
            <a:srgbClr val="E6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38744" y="14721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C1A16"/>
                </a:solidFill>
                <a:latin typeface="Yu Gothic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77656" y="1472184"/>
            <a:ext cx="30906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ブランディング戦略支援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93608" y="2039112"/>
            <a:ext cx="54864" cy="54864"/>
          </a:xfrm>
          <a:prstGeom prst="rect">
            <a:avLst/>
          </a:prstGeom>
          <a:solidFill>
            <a:srgbClr val="E6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21624" y="1947672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ブランドコンセプト・キャッチコピー設計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93608" y="2478024"/>
            <a:ext cx="54864" cy="54864"/>
          </a:xfrm>
          <a:prstGeom prst="rect">
            <a:avLst/>
          </a:prstGeom>
          <a:solidFill>
            <a:srgbClr val="E6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21624" y="2386584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プロフィール・権威付けコンテンツ作成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8" y="2916936"/>
            <a:ext cx="54864" cy="54864"/>
          </a:xfrm>
          <a:prstGeom prst="rect">
            <a:avLst/>
          </a:prstGeom>
          <a:solidFill>
            <a:srgbClr val="E6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21624" y="2825496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セミナー登壇プランニング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8" y="34015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359"/>
                </a:solidFill>
                <a:latin typeface="Yu Gothic"/>
              </a:rPr>
              <a:t>対象プラン：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3383280"/>
            <a:ext cx="2560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8A1A"/>
                </a:solidFill>
                <a:latin typeface="Yu Gothic"/>
              </a:rPr>
              <a:t>スタンダード  /  プレミアム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3931920"/>
            <a:ext cx="3749039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28600" y="3931920"/>
            <a:ext cx="3749039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8328" y="39867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C1A16"/>
                </a:solidFill>
                <a:latin typeface="Yu Gothic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3986784"/>
            <a:ext cx="30906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月次マーケティング支援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3192" y="4553712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21208" y="4462272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Google Analytics 4 / Search Console 分析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3192" y="4992624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21208" y="4901184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Web広告効果測定・改善提案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3192" y="5431536"/>
            <a:ext cx="54864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1208" y="5340096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月次レポート＋翌月アクションプラン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" y="59161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359"/>
                </a:solidFill>
                <a:latin typeface="Yu Gothic"/>
              </a:rPr>
              <a:t>対象プラン：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5897880"/>
            <a:ext cx="256031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dirty="0" err="1">
                <a:solidFill>
                  <a:srgbClr val="2E86C1"/>
                </a:solidFill>
                <a:latin typeface="Yu Gothic"/>
              </a:rPr>
              <a:t>スタンダード</a:t>
            </a:r>
            <a:r>
              <a:rPr sz="900" b="1" dirty="0">
                <a:solidFill>
                  <a:srgbClr val="2E86C1"/>
                </a:solidFill>
                <a:latin typeface="Yu Gothic"/>
              </a:rPr>
              <a:t>  /  </a:t>
            </a:r>
            <a:r>
              <a:rPr sz="900" b="1" dirty="0" err="1">
                <a:solidFill>
                  <a:srgbClr val="2E86C1"/>
                </a:solidFill>
                <a:latin typeface="Yu Gothic"/>
              </a:rPr>
              <a:t>プレミアム</a:t>
            </a:r>
            <a:endParaRPr sz="900" b="1" dirty="0">
              <a:solidFill>
                <a:srgbClr val="2E86C1"/>
              </a:solidFill>
              <a:latin typeface="Yu Gothic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178808" y="3931920"/>
            <a:ext cx="3749039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178808" y="3931920"/>
            <a:ext cx="3749039" cy="347472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288536" y="39867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C1A16"/>
                </a:solidFill>
                <a:latin typeface="Yu Gothic"/>
              </a:rPr>
              <a:t>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27448" y="3986784"/>
            <a:ext cx="30906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SNS動画制作・運用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43400" y="4553712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471416" y="4462272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月1回・60分の素材撮影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992624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471416" y="4901184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月8本×1分 Shorts動画編集・投稿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43400" y="5431536"/>
            <a:ext cx="54864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71416" y="5340096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SNS運用マニュアル作成・引き渡し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43400" y="59161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359"/>
                </a:solidFill>
                <a:latin typeface="Yu Gothic"/>
              </a:rPr>
              <a:t>対象プラン：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49240" y="5897880"/>
            <a:ext cx="2560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1306C"/>
                </a:solidFill>
                <a:latin typeface="Yu Gothic"/>
              </a:rPr>
              <a:t>スタンダード  /  プレミアム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9016" y="3931920"/>
            <a:ext cx="3749039" cy="233172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129016" y="3931920"/>
            <a:ext cx="3749039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238744" y="39867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C1A16"/>
                </a:solidFill>
                <a:latin typeface="Yu Gothic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77656" y="3986784"/>
            <a:ext cx="309067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A16"/>
                </a:solidFill>
                <a:latin typeface="Yu Gothic"/>
              </a:rPr>
              <a:t>AI活用・自動ブログ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93608" y="4553712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421624" y="4462272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GitHub Actions による自動記事生成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93608" y="4992624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421624" y="4901184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Claude API 連携・週1〜2本更新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93608" y="5431536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421624" y="5340096"/>
            <a:ext cx="33649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CC5B8"/>
                </a:solidFill>
                <a:latin typeface="Yu Gothic"/>
              </a:rPr>
              <a:t>SEO向け専門コンテンツを自動発信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93608" y="59161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359"/>
                </a:solidFill>
                <a:latin typeface="Yu Gothic"/>
              </a:rPr>
              <a:t>対象プラン：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99448" y="5897880"/>
            <a:ext cx="2560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B5CF6"/>
                </a:solidFill>
                <a:latin typeface="Yu Gothic"/>
              </a:rPr>
              <a:t>プレミアム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01 -- LP / LANDING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LP（ランディングページ）制作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28800" y="1828800"/>
            <a:ext cx="8531352" cy="3474720"/>
          </a:xfrm>
          <a:prstGeom prst="rect">
            <a:avLst/>
          </a:prstGeom>
          <a:solidFill>
            <a:srgbClr val="22201C"/>
          </a:solidFill>
          <a:ln w="9525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0" y="2377440"/>
            <a:ext cx="8531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D4AF7A"/>
                </a:solidFill>
                <a:latin typeface="Yu Mincho"/>
              </a:rPr>
              <a:t>LP は別途ご覧いただきます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127248"/>
            <a:ext cx="8531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295"/>
                </a:solidFill>
                <a:latin typeface="Yu Gothic"/>
              </a:rPr>
              <a:t>現在制作中のLPをプロジェクターに投影してご説明します。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02 -- 公式LINE構築 + LINE広告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公式LINE構築 + LINE広告運用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577840" cy="4297680"/>
          </a:xfrm>
          <a:prstGeom prst="rect">
            <a:avLst/>
          </a:prstGeom>
          <a:solidFill>
            <a:srgbClr val="22201C"/>
          </a:solidFill>
          <a:ln w="127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C755"/>
                </a:solidFill>
                <a:latin typeface="Yu Gothic"/>
              </a:rPr>
              <a:t>公式LINE 構築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3969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0665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アカウント設定・プロフィール・アイコン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64261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56946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リッチメニュー設計・作成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14553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07238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自動挨拶メッセージ設定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4845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5753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ステップ配信シナリオ設計（5〜8通）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5137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407822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無料相談予約フロー構築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654296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5811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セグメント配信設定（旅館 / 飲食 / 承継検討）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417320"/>
            <a:ext cx="5925312" cy="4297680"/>
          </a:xfrm>
          <a:prstGeom prst="rect">
            <a:avLst/>
          </a:prstGeom>
          <a:solidFill>
            <a:srgbClr val="182618"/>
          </a:solidFill>
          <a:ln w="127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15544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C755"/>
                </a:solidFill>
                <a:latin typeface="Yu Gothic"/>
              </a:rPr>
              <a:t>LINE広告 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920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4AF7A"/>
                </a:solidFill>
                <a:latin typeface="Yu Mincho"/>
              </a:rPr>
              <a:t>年間 60万円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423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070"/>
                </a:solidFill>
                <a:latin typeface="Yu Gothic"/>
              </a:rPr>
              <a:t>（広告費実費 / 全プラン共通）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8094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29077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ターゲティング設定（旅館・飲食経営者層）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48386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34107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クリエイティブ制作（バナー・テキスト）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8678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9136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A/Bテスト実施・最適化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48970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44165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月次広告レポート（CPL・CPAを追跡）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992624"/>
            <a:ext cx="731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49194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5B8"/>
                </a:solidFill>
                <a:latin typeface="Yu Gothic"/>
              </a:rPr>
              <a:t>LINE登録後のナーチャリング連携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03 -- ブランディング戦略支援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ブランディング戦略支援の内容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527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ブランドコンセプト設計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キャッチコピー・差別化軸・ブランドストーリーの言語化
「なぜ小野氏に頼むべきか」を一言で言えるレベルに落とし込む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41732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0760" y="15270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55448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プロフィール・権威付けコンテンツ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92024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バイオグラフィ制作・実績の数字化・メディア露出戦略
LP掲載用ケーススタディのフォーマット化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52044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6301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発信コンテンツカレンダー設計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2336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何を・いつ・どこで発信するかを3ヶ月単位で設計
Instagram / note / セミナー を統合したテーマ管理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3520440"/>
            <a:ext cx="5440680" cy="192024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36301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57600"/>
            <a:ext cx="4617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セミナー・登壇プランニング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023360"/>
            <a:ext cx="4617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商工会・観光協会・金融機関との連携による登壇機会の創出
年2〜4回の無料セミナー設計（認知→LINE登録への導線）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532120"/>
            <a:ext cx="11155680" cy="1097280"/>
          </a:xfrm>
          <a:prstGeom prst="rect">
            <a:avLst/>
          </a:prstGeom>
          <a:solidFill>
            <a:srgbClr val="22201C"/>
          </a:solidFill>
          <a:ln w="6350">
            <a:solidFill>
              <a:srgbClr val="B89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56418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040"/>
                </a:solidFill>
                <a:latin typeface="Yu Mincho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69280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F7A"/>
                </a:solidFill>
                <a:latin typeface="Yu Gothic"/>
              </a:rPr>
              <a:t>競合モニタリング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035040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類似コンサルタントの動向把握・差別化ポイントの継続確認
四半期ごとにポジショニングを見直し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04 -- 月次マーケ支援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月次マーケティング支援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295"/>
                </a:solidFill>
                <a:latin typeface="Yu Gothic"/>
              </a:rPr>
              <a:t>Google Analytics / Search Console の計測 + Web広告の運用成果を月次で分析・報告します。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11731752" cy="129844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28600" y="1874519"/>
            <a:ext cx="91440" cy="12984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984247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Google Analytics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86583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LP訪問者数・流入経路・行動フロー・CVR を計測
Goal設定（無料相談フォーム送信）の追跡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291839"/>
            <a:ext cx="11731752" cy="129844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28600" y="3291839"/>
            <a:ext cx="91440" cy="1298448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401567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</a:rPr>
              <a:t>Google Search Console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3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検索クエリ・表示順位・CTR の可視化
SEOキーワードの改善機会を月次で特定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709159"/>
            <a:ext cx="11731752" cy="129844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28600" y="4709159"/>
            <a:ext cx="91440" cy="1298448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7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 err="1">
                <a:solidFill>
                  <a:srgbClr val="FFFFFF"/>
                </a:solidFill>
                <a:latin typeface="Yu Gothic"/>
              </a:rPr>
              <a:t>Web広告（LINE</a:t>
            </a:r>
            <a:r>
              <a:rPr sz="1300" b="1" dirty="0">
                <a:solidFill>
                  <a:srgbClr val="FFFFFF"/>
                </a:solidFill>
                <a:latin typeface="Yu Gothic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21223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広告インプレッション・CTR・CPL（1件当たりLINE登録コスト）
月次予算配分の最適化提案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6199632"/>
            <a:ext cx="11731752" cy="512064"/>
          </a:xfrm>
          <a:prstGeom prst="rect">
            <a:avLst/>
          </a:prstGeom>
          <a:solidFill>
            <a:srgbClr val="18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86C1"/>
                </a:solidFill>
                <a:latin typeface="Yu Gothic"/>
              </a:rPr>
              <a:t>月次レポートのアウトプット：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629107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"/>
              </a:rPr>
              <a:t>KPIダッシュボード（1枚）  /  改善提案（3点）  /  翌月アクションプラン（1枚）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05 -- SNS動画制作・運用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SNS動画制作・運用代行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11521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D4AF7A"/>
                </a:solidFill>
                <a:latin typeface="Yu Gothic"/>
              </a:rPr>
              <a:t>スタンダード・プレミアムプランに含みます</a:t>
            </a:r>
            <a:endParaRPr sz="1200" b="1" dirty="0">
              <a:solidFill>
                <a:srgbClr val="D4AF7A"/>
              </a:solidFill>
              <a:latin typeface="Yu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2788920" cy="2377440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SHOOT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現地撮影
60分 / 月1回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78892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048"/>
                </a:solidFill>
                <a:latin typeface="Yu Gothic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874519"/>
            <a:ext cx="2788920" cy="2377440"/>
          </a:xfrm>
          <a:prstGeom prst="rect">
            <a:avLst/>
          </a:prstGeom>
          <a:solidFill>
            <a:srgbClr val="6B25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64408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4408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動画編集
月8本×1分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6168" y="278892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048"/>
                </a:solidFill>
                <a:latin typeface="Yu Gothic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25896" y="1874519"/>
            <a:ext cx="2788920" cy="2377440"/>
          </a:xfrm>
          <a:prstGeom prst="rect">
            <a:avLst/>
          </a:prstGeom>
          <a:solidFill>
            <a:srgbClr val="1A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63056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SNS 投稿
Instagram / YouTube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8892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048"/>
                </a:solidFill>
                <a:latin typeface="Yu Gothic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24544" y="1874519"/>
            <a:ext cx="2788920" cy="23774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61704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704" y="2450592"/>
            <a:ext cx="2560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月次分析
再生数・フォロワー推移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43484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28600" y="45262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撮影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443484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719072" y="449884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月1回・60分の素材撮影（現地または リモート収録）
撮影テーマは月次コンテンツカレンダーに基づき事前設計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498348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28600" y="5074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制作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54480" y="498348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719072" y="504748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60分素材から月8本の1分Shorts動画を編集
テロップ・BGM・サムネイル制作を含む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53212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8600" y="56235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投稿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54480" y="553212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19072" y="559612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Instagram Reels / YouTube Shorts へ最適化して投稿代行
ハッシュタグ・説明文・ベストタイム投稿を管理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6080760"/>
            <a:ext cx="1280160" cy="475488"/>
          </a:xfrm>
          <a:prstGeom prst="rect">
            <a:avLst/>
          </a:prstGeom>
          <a:solidFill>
            <a:srgbClr val="8B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28600" y="6172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Yu Gothic"/>
              </a:rPr>
              <a:t>効果測定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6080760"/>
            <a:ext cx="10405872" cy="475488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719072" y="614476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5B8"/>
                </a:solidFill>
                <a:latin typeface="Yu Gothic"/>
              </a:rPr>
              <a:t>再生回数・保存数・プロフィールへの流入数・フォロワー増加を月次報告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34747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935A"/>
                </a:solidFill>
                <a:latin typeface="Yu Gothic"/>
              </a:rPr>
              <a:t>SERVICE DETAIL 06 -- AI活用・自動ブログ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Yu Mincho"/>
              </a:rPr>
              <a:t>AI活用・自動ブログ実装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292608" cy="2286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A99FF"/>
                </a:solidFill>
                <a:latin typeface="Yu Gothic"/>
              </a:rPr>
              <a:t>プレミアムプランに含みます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28800"/>
            <a:ext cx="3474720" cy="1554480"/>
          </a:xfrm>
          <a:prstGeom prst="rect">
            <a:avLst/>
          </a:prstGeom>
          <a:solidFill>
            <a:srgbClr val="24293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</a:rPr>
              <a:t>GitHub Actions
（定期実行）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3774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B5CF6"/>
                </a:solidFill>
                <a:latin typeface="Yu Gothic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40" y="1828800"/>
            <a:ext cx="3474720" cy="1554480"/>
          </a:xfrm>
          <a:prstGeom prst="rect">
            <a:avLst/>
          </a:prstGeom>
          <a:solidFill>
            <a:srgbClr val="2D1F4A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60520" y="22402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</a:rPr>
              <a:t>AI（Claude API）
記事自動生成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3774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B5CF6"/>
                </a:solidFill>
                <a:latin typeface="Yu Gothic"/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80" y="1828800"/>
            <a:ext cx="3474720" cy="1554480"/>
          </a:xfrm>
          <a:prstGeom prst="rect">
            <a:avLst/>
          </a:prstGeom>
          <a:solidFill>
            <a:srgbClr val="1A2A1A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</a:rPr>
              <a:t>LP ブログページ
自動公開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547872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28600" y="3547872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621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自動ブログの仕組み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602736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GitHub Actions のcron設定（週1〜2回）でAI APIを呼び出し、旅館・飲食業に関する
記事を自動生成。LPのブログセクションに自動投稿します。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315968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8600" y="4315968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生成コンテンツのテーマ例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370832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観光DXの最新動向 / 補助金・助成金情報 / 事業承継の事例 / 旅館集客Tipsなど
小野氏の専門性に沿ったトピックでSEO効果を狙います。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084064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28600" y="5084064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1572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ブログ機能の仕様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138928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LPに新セクション追加（Markdown対応）/ RSS配信対応 / 記事一覧・詳細ページ
GitHub上で手動追記・編集も可能なシンプル構成。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5852160"/>
            <a:ext cx="11731752" cy="694944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" y="5852160"/>
            <a:ext cx="91440" cy="6949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9253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A99FF"/>
                </a:solidFill>
                <a:latin typeface="Yu Gothic"/>
              </a:rPr>
              <a:t>期待効果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907024"/>
            <a:ext cx="795527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295"/>
                </a:solidFill>
                <a:latin typeface="Yu Gothic"/>
              </a:rPr>
              <a:t>継続的なコンテンツ更新によるSEO改善 / 専門家としての権威付け強化
更新の手間ゼロで「情報を発信し続ける専門家」としてのブランドを維持。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623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B89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5943600"/>
            <a:ext cx="3474720" cy="685800"/>
          </a:xfrm>
          <a:prstGeom prst="rect">
            <a:avLst/>
          </a:prstGeom>
          <a:solidFill>
            <a:srgbClr val="22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游明朝" panose="02020400000000000000" pitchFamily="18" charset="-128"/>
              <a:ea typeface="游明朝" panose="02020400000000000000" pitchFamily="18" charset="-128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7200" y="6016752"/>
            <a:ext cx="3200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 err="1">
                <a:solidFill>
                  <a:srgbClr val="FFFFFF"/>
                </a:solidFill>
                <a:latin typeface="Yu Gothic"/>
              </a:rPr>
              <a:t>合同会社Brain</a:t>
            </a:r>
            <a:r>
              <a:rPr sz="1100" b="0" dirty="0">
                <a:solidFill>
                  <a:srgbClr val="FFFFFF"/>
                </a:solidFill>
                <a:latin typeface="Yu Gothic"/>
              </a:rPr>
              <a:t>  鵜木 </a:t>
            </a:r>
            <a:r>
              <a:rPr lang="ja-JP" altLang="en-US" sz="1100" dirty="0">
                <a:solidFill>
                  <a:srgbClr val="FFFFFF"/>
                </a:solidFill>
                <a:latin typeface="Yu Gothic"/>
              </a:rPr>
              <a:t>寛文</a:t>
            </a:r>
            <a:endParaRPr sz="1100" b="0" dirty="0">
              <a:solidFill>
                <a:srgbClr val="FFFFFF"/>
              </a:solidFill>
              <a:latin typeface="Yu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2910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359"/>
                </a:solidFill>
                <a:latin typeface="Yu Gothic"/>
              </a:rPr>
              <a:t>yoshifumi.unoki.business@gmail.com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1371600"/>
            <a:ext cx="749807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Yu Mincho"/>
              </a:rPr>
              <a:t>ご清聴
ありがとうございました。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749039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295"/>
                </a:solidFill>
                <a:latin typeface="Yu Gothic"/>
              </a:rPr>
              <a:t>旅館・飲食業の現場を変える伴走者として、
小野氏のブランドを一緒に育てていきます。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4663440"/>
            <a:ext cx="7315200" cy="18288"/>
          </a:xfrm>
          <a:prstGeom prst="rect">
            <a:avLst/>
          </a:prstGeom>
          <a:solidFill>
            <a:srgbClr val="444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89120" y="6583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038"/>
                </a:solidFill>
                <a:latin typeface="Yu Gothic"/>
              </a:rPr>
              <a:t>© 2026 合同会社Brain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1676</Words>
  <Application>Microsoft Office PowerPoint</Application>
  <PresentationFormat>ユーザー設定</PresentationFormat>
  <Paragraphs>445</Paragraphs>
  <Slides>18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Yu Gothic</vt:lpstr>
      <vt:lpstr>Yu Gothic</vt:lpstr>
      <vt:lpstr>Yu Mincho</vt:lpstr>
      <vt:lpstr>Yu Mincho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寛文 鵜木</cp:lastModifiedBy>
  <cp:revision>5</cp:revision>
  <dcterms:created xsi:type="dcterms:W3CDTF">2013-01-27T09:14:16Z</dcterms:created>
  <dcterms:modified xsi:type="dcterms:W3CDTF">2026-05-06T07:39:29Z</dcterms:modified>
  <cp:category/>
</cp:coreProperties>
</file>