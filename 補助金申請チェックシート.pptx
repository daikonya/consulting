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游明朝"/>
              </a:rPr>
              <a:t>補助金申請チェックシート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5B8"/>
                </a:solidFill>
                <a:latin typeface="游ゴシック"/>
              </a:rPr>
              <a:t>観光DX推進事業 専門人材による伴走支援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070"/>
                </a:solidFill>
                <a:latin typeface="游ゴシック"/>
              </a:rPr>
              <a:t>申請に向けて決めること・確認事項をまとめた作業資料です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6400800" cy="1463040"/>
          </a:xfrm>
          <a:prstGeom prst="rect">
            <a:avLst/>
          </a:prstGeom>
          <a:solidFill>
            <a:srgbClr val="3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游ゴシック"/>
              </a:rPr>
              <a:t>⚠  締切厳守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5943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AAAA"/>
                </a:solidFill>
                <a:latin typeface="游ゴシック"/>
              </a:rPr>
              <a:t>参加申込：2026年5月22日（金）17:00
計画申請：2026年5月29日（金）17:00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058"/>
                </a:solidFill>
                <a:latin typeface="游ゴシック"/>
              </a:rPr>
              <a:t>作成：合同会社Brain  /  2026年5月7日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游ゴシック"/>
              </a:rPr>
              <a:t>CHECK 01 — 補助金概要の確認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游明朝"/>
              </a:rPr>
              <a:t>観光DX補助金とは何か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92608" cy="27432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834640" cy="1417320"/>
          </a:xfrm>
          <a:prstGeom prst="rect">
            <a:avLst/>
          </a:prstGeom>
          <a:solidFill>
            <a:srgbClr val="26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D4AF7A"/>
                </a:solidFill>
                <a:latin typeface="游明朝"/>
              </a:rPr>
              <a:t>800万円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042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補助上限額（定額）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1417320"/>
            <a:ext cx="2834640" cy="1417320"/>
          </a:xfrm>
          <a:prstGeom prst="rect">
            <a:avLst/>
          </a:prstGeom>
          <a:solidFill>
            <a:srgbClr val="26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53619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D4AF7A"/>
                </a:solidFill>
                <a:latin typeface="游明朝"/>
              </a:rPr>
              <a:t>11,800円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3042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最高時間単価
（税込 / 時間）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417320"/>
            <a:ext cx="283464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3619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游明朝"/>
              </a:rPr>
              <a:t>5月22日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3042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BBB"/>
                </a:solidFill>
                <a:latin typeface="游ゴシック"/>
              </a:rPr>
              <a:t>参加申込 締切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8008" y="1417320"/>
            <a:ext cx="283464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153619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游明朝"/>
              </a:rPr>
              <a:t>5月29日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23042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BBB"/>
                </a:solidFill>
                <a:latin typeface="游ゴシック"/>
              </a:rPr>
              <a:t>計画申請 締切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17520"/>
            <a:ext cx="11539728" cy="347472"/>
          </a:xfrm>
          <a:prstGeom prst="rect">
            <a:avLst/>
          </a:prstGeom>
          <a:solidFill>
            <a:srgbClr val="26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72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935A"/>
                </a:solidFill>
                <a:latin typeface="游ゴシック"/>
              </a:rPr>
              <a:t>補助対象となる活動（観光DXの文脈で申請する）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93008"/>
            <a:ext cx="384048" cy="475488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5661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A16"/>
                </a:solidFill>
                <a:latin typeface="游ゴシック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3493008"/>
            <a:ext cx="11064240" cy="47548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58444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游ゴシック"/>
              </a:rPr>
              <a:t>観光DXに関する計画の策定（LPをDX集客戦略計画として位置付け）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51376"/>
            <a:ext cx="384048" cy="475488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22452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A16"/>
                </a:solidFill>
                <a:latin typeface="游ゴシック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4151376"/>
            <a:ext cx="11064240" cy="47548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42816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游ゴシック"/>
              </a:rPr>
              <a:t>旅行者の利便性向上に資するデジタルツールの導入（公式LINE・予約システム連携）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809744"/>
            <a:ext cx="384048" cy="475488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8828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A16"/>
                </a:solidFill>
                <a:latin typeface="游ゴシック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4809744"/>
            <a:ext cx="11064240" cy="47548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01184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游ゴシック"/>
              </a:rPr>
              <a:t>デジタルツール導入後の活用支援（月次Webマーケ・データ分析・SNS運用）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669280"/>
            <a:ext cx="11539728" cy="1005840"/>
          </a:xfrm>
          <a:prstGeom prst="rect">
            <a:avLst/>
          </a:prstGeom>
          <a:solidFill>
            <a:srgbClr val="28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游ゴシック"/>
              </a:rPr>
              <a:t>補助金の特徴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0533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游ゴシック"/>
              </a:rPr>
              <a:t>定額補助（1/2や2/3ではなく全額補填）　／　上限800万円　／　後払い方式（先に支払い→後から入金）　／　時間単価の証憑が必要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游ゴシック"/>
              </a:rPr>
              <a:t>CHECK 02 — 申請者の確認  ★ 要決定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游明朝"/>
              </a:rPr>
              <a:t>誰が申請者（補助対象事業者）になるか？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92608" cy="27432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1539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游ゴシック"/>
              </a:rPr>
              <a:t>補助対象事業者の条件：地方公共団体 / DMO / 観光協会 / 宿泊事業者等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5669280" cy="4206240"/>
          </a:xfrm>
          <a:prstGeom prst="rect">
            <a:avLst/>
          </a:prstGeom>
          <a:solidFill>
            <a:srgbClr val="22201C"/>
          </a:solidFill>
          <a:ln w="19050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935A"/>
                </a:solidFill>
                <a:latin typeface="游ゴシック"/>
              </a:rPr>
              <a:t>案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游ゴシック"/>
              </a:rPr>
              <a:t>丸正旅館（または旅館部門）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07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游ゴシック"/>
              </a:rPr>
              <a:t>✓ メリット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游ゴシック"/>
              </a:rPr>
              <a:t>宿泊事業者として明確に適格。
本店所在地が丸正旅館内のため関係性も説明しやすい。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游ゴシック"/>
              </a:rPr>
              <a:t>⚠ 確認事項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702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游ゴシック"/>
              </a:rPr>
              <a:t>旅館の代表者（オーナー）が申請者となるため
小野氏の関与方法を整理する必要あり。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20240"/>
            <a:ext cx="1097280" cy="41148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" y="2029968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1A16"/>
                </a:solidFill>
                <a:latin typeface="游ゴシック"/>
              </a:rPr>
              <a:t>← 推奨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5669280" cy="4206240"/>
          </a:xfrm>
          <a:prstGeom prst="rect">
            <a:avLst/>
          </a:prstGeom>
          <a:solidFill>
            <a:srgbClr val="22201C"/>
          </a:solidFill>
          <a:ln w="6350">
            <a:solidFill>
              <a:srgbClr val="99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299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080"/>
                </a:solidFill>
                <a:latin typeface="游ゴシック"/>
              </a:rPr>
              <a:t>案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游ゴシック"/>
              </a:rPr>
              <a:t>株式会社TOJISM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07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游ゴシック"/>
              </a:rPr>
              <a:t>✓ メリット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游ゴシック"/>
              </a:rPr>
              <a:t>小野氏自身の法人。自由に動きやすい。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游ゴシック"/>
              </a:rPr>
              <a:t>⚠ 確認事項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702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游ゴシック"/>
              </a:rPr>
              <a:t>宿泊事業者等として認められるか確認が必要。
コンサル会社としての申請は審査が厳しい場合あり。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263640"/>
            <a:ext cx="11539728" cy="457200"/>
          </a:xfrm>
          <a:prstGeom prst="rect">
            <a:avLst/>
          </a:prstGeom>
          <a:solidFill>
            <a:srgbClr val="3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CCCC"/>
                </a:solidFill>
                <a:latin typeface="游ゴシック"/>
              </a:rPr>
              <a:t>□  本日確認：どちらの法人を申請者とするか決定してください。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游ゴシック"/>
              </a:rPr>
              <a:t>CHECK 03 — プラン &amp; 費用の確認  ★ 要決定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游明朝"/>
              </a:rPr>
              <a:t>申請プランと費用シミュレーション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92608" cy="27432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468880" cy="502920"/>
          </a:xfrm>
          <a:prstGeom prst="rect">
            <a:avLst/>
          </a:prstGeom>
          <a:solidFill>
            <a:srgbClr val="EEEAE3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904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A16"/>
                </a:solidFill>
                <a:latin typeface="游ゴシック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417320"/>
            <a:ext cx="2834640" cy="502920"/>
          </a:xfrm>
          <a:prstGeom prst="rect">
            <a:avLst/>
          </a:prstGeom>
          <a:solidFill>
            <a:srgbClr val="F0EDE8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4904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1A16"/>
                </a:solidFill>
                <a:latin typeface="游ゴシック"/>
              </a:rPr>
              <a:t>梅（スターター）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417320"/>
            <a:ext cx="2834640" cy="502920"/>
          </a:xfrm>
          <a:prstGeom prst="rect">
            <a:avLst/>
          </a:prstGeom>
          <a:solidFill>
            <a:srgbClr val="2A2722"/>
          </a:solidFill>
          <a:ln w="6350">
            <a:solidFill>
              <a:srgbClr val="555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6168" y="14904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竹（スタンダード）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1417320"/>
            <a:ext cx="3410712" cy="502920"/>
          </a:xfrm>
          <a:prstGeom prst="rect">
            <a:avLst/>
          </a:prstGeom>
          <a:solidFill>
            <a:srgbClr val="1C1A16"/>
          </a:solidFill>
          <a:ln w="9525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42248" y="1490472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松（フルサポート） 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75104"/>
            <a:ext cx="2468880" cy="777240"/>
          </a:xfrm>
          <a:prstGeom prst="rect">
            <a:avLst/>
          </a:prstGeom>
          <a:solidFill>
            <a:srgbClr val="EEEAE3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1579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A16"/>
                </a:solidFill>
                <a:latin typeface="游ゴシック"/>
              </a:rPr>
              <a:t>期間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1975104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0088" y="21579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游ゴシック"/>
              </a:rPr>
              <a:t>2ヶ月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1975104"/>
            <a:ext cx="2834640" cy="777240"/>
          </a:xfrm>
          <a:prstGeom prst="rect">
            <a:avLst/>
          </a:prstGeom>
          <a:solidFill>
            <a:srgbClr val="22201C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6168" y="21579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游ゴシック"/>
              </a:rPr>
              <a:t>6ヶ月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975104"/>
            <a:ext cx="3410712" cy="777240"/>
          </a:xfrm>
          <a:prstGeom prst="rect">
            <a:avLst/>
          </a:prstGeom>
          <a:solidFill>
            <a:srgbClr val="1C1A16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2157984"/>
            <a:ext cx="3227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7A"/>
                </a:solidFill>
                <a:latin typeface="游ゴシック"/>
              </a:rPr>
              <a:t>12ヶ月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98064"/>
            <a:ext cx="2468880" cy="777240"/>
          </a:xfrm>
          <a:prstGeom prst="rect">
            <a:avLst/>
          </a:prstGeom>
          <a:solidFill>
            <a:srgbClr val="EEEAE3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9809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A16"/>
                </a:solidFill>
                <a:latin typeface="游ゴシック"/>
              </a:rPr>
              <a:t>Brain費用（税抜）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2798064"/>
            <a:ext cx="2834640" cy="777240"/>
          </a:xfrm>
          <a:prstGeom prst="rect">
            <a:avLst/>
          </a:prstGeom>
          <a:solidFill>
            <a:srgbClr val="FAF8F4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0088" y="29809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游ゴシック"/>
              </a:rPr>
              <a:t>90万円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2798064"/>
            <a:ext cx="2834640" cy="777240"/>
          </a:xfrm>
          <a:prstGeom prst="rect">
            <a:avLst/>
          </a:prstGeom>
          <a:solidFill>
            <a:srgbClr val="22201C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16168" y="29809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游ゴシック"/>
              </a:rPr>
              <a:t>360万円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2798064"/>
            <a:ext cx="3410712" cy="777240"/>
          </a:xfrm>
          <a:prstGeom prst="rect">
            <a:avLst/>
          </a:prstGeom>
          <a:solidFill>
            <a:srgbClr val="1C1A16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980944"/>
            <a:ext cx="3227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7A"/>
                </a:solidFill>
                <a:latin typeface="游ゴシック"/>
              </a:rPr>
              <a:t>750万円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21024"/>
            <a:ext cx="2468880" cy="777240"/>
          </a:xfrm>
          <a:prstGeom prst="rect">
            <a:avLst/>
          </a:prstGeom>
          <a:solidFill>
            <a:srgbClr val="EEEAE3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38039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A16"/>
                </a:solidFill>
                <a:latin typeface="游ゴシック"/>
              </a:rPr>
              <a:t>時間数（目安）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3621024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0088" y="380390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游ゴシック"/>
              </a:rPr>
              <a:t>約80時間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3621024"/>
            <a:ext cx="2834640" cy="777240"/>
          </a:xfrm>
          <a:prstGeom prst="rect">
            <a:avLst/>
          </a:prstGeom>
          <a:solidFill>
            <a:srgbClr val="22201C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16168" y="380390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游ゴシック"/>
              </a:rPr>
              <a:t>約330時間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3621024"/>
            <a:ext cx="3410712" cy="777240"/>
          </a:xfrm>
          <a:prstGeom prst="rect">
            <a:avLst/>
          </a:prstGeom>
          <a:solidFill>
            <a:srgbClr val="1C1A16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42248" y="3803904"/>
            <a:ext cx="3227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7A"/>
                </a:solidFill>
                <a:latin typeface="游ゴシック"/>
              </a:rPr>
              <a:t>約670時間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443984"/>
            <a:ext cx="2468880" cy="777240"/>
          </a:xfrm>
          <a:prstGeom prst="rect">
            <a:avLst/>
          </a:prstGeom>
          <a:solidFill>
            <a:srgbClr val="EEEAE3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" y="46268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A16"/>
                </a:solidFill>
                <a:latin typeface="游ゴシック"/>
              </a:rPr>
              <a:t>補助金申請額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60" y="4443984"/>
            <a:ext cx="2834640" cy="777240"/>
          </a:xfrm>
          <a:prstGeom prst="rect">
            <a:avLst/>
          </a:prstGeom>
          <a:solidFill>
            <a:srgbClr val="FAF8F4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0088" y="46268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游ゴシック"/>
              </a:rPr>
              <a:t>100万円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4443984"/>
            <a:ext cx="2834640" cy="777240"/>
          </a:xfrm>
          <a:prstGeom prst="rect">
            <a:avLst/>
          </a:prstGeom>
          <a:solidFill>
            <a:srgbClr val="22201C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16168" y="46268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游ゴシック"/>
              </a:rPr>
              <a:t>400万円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2520" y="4443984"/>
            <a:ext cx="3410712" cy="777240"/>
          </a:xfrm>
          <a:prstGeom prst="rect">
            <a:avLst/>
          </a:prstGeom>
          <a:solidFill>
            <a:srgbClr val="1C1A16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42248" y="4626864"/>
            <a:ext cx="3227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7A"/>
                </a:solidFill>
                <a:latin typeface="游ゴシック"/>
              </a:rPr>
              <a:t>800万円（上限）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66944"/>
            <a:ext cx="2468880" cy="777240"/>
          </a:xfrm>
          <a:prstGeom prst="rect">
            <a:avLst/>
          </a:prstGeom>
          <a:solidFill>
            <a:srgbClr val="22442E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" y="54498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游ゴシック"/>
              </a:rPr>
              <a:t>小野氏負担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360" y="5266944"/>
            <a:ext cx="2834640" cy="777240"/>
          </a:xfrm>
          <a:prstGeom prst="rect">
            <a:avLst/>
          </a:prstGeom>
          <a:solidFill>
            <a:srgbClr val="22442E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0088" y="544982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游ゴシック"/>
              </a:rPr>
              <a:t>ほぼ0円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06440" y="5266944"/>
            <a:ext cx="2834640" cy="777240"/>
          </a:xfrm>
          <a:prstGeom prst="rect">
            <a:avLst/>
          </a:prstGeom>
          <a:solidFill>
            <a:srgbClr val="22442E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16168" y="544982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游ゴシック"/>
              </a:rPr>
              <a:t>ほぼ0円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32520" y="5266944"/>
            <a:ext cx="3410712" cy="777240"/>
          </a:xfrm>
          <a:prstGeom prst="rect">
            <a:avLst/>
          </a:prstGeom>
          <a:solidFill>
            <a:srgbClr val="22442E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2248" y="5449824"/>
            <a:ext cx="3227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游ゴシック"/>
              </a:rPr>
              <a:t>ほぼ0円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6236208"/>
            <a:ext cx="11539728" cy="457200"/>
          </a:xfrm>
          <a:prstGeom prst="rect">
            <a:avLst/>
          </a:prstGeom>
          <a:solidFill>
            <a:srgbClr val="3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32764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CCCC"/>
                </a:solidFill>
                <a:latin typeface="游ゴシック"/>
              </a:rPr>
              <a:t>□  本日確認：松・竹・梅のどのプランにするかを決定してください。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游ゴシック"/>
              </a:rPr>
              <a:t>CHECK 04 — キャッシュフロー確認  ★ 要確認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游明朝"/>
              </a:rPr>
              <a:t>先払いが必要 ── 資金手当の確認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92608" cy="27432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82880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7276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5月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12848"/>
            <a:ext cx="1828800" cy="128016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0428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5B8"/>
                </a:solidFill>
                <a:latin typeface="游ゴシック"/>
              </a:rPr>
              <a:t>参加申込
計画申請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070"/>
                </a:solidFill>
                <a:latin typeface="游ゴシック"/>
              </a:rPr>
              <a:t>申請完了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71907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048"/>
                </a:solidFill>
                <a:latin typeface="游ゴシック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3432" y="1508760"/>
            <a:ext cx="1828800" cy="640080"/>
          </a:xfrm>
          <a:prstGeom prst="rect">
            <a:avLst/>
          </a:prstGeom>
          <a:solidFill>
            <a:srgbClr val="6B6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3432" y="157276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6月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3432" y="2212848"/>
            <a:ext cx="1828800" cy="128016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230428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5B8"/>
                </a:solidFill>
                <a:latin typeface="游ゴシック"/>
              </a:rPr>
              <a:t>採択審査
交付申請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070"/>
                </a:solidFill>
                <a:latin typeface="游ゴシック"/>
              </a:rPr>
              <a:t>待機期間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2" y="171907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048"/>
                </a:solidFill>
                <a:latin typeface="游ゴシック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508760"/>
            <a:ext cx="1828800" cy="64008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6824" y="157276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A16"/>
                </a:solidFill>
                <a:latin typeface="游ゴシック"/>
              </a:rPr>
              <a:t>7月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6824" y="2212848"/>
            <a:ext cx="1828800" cy="128016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230428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5B8"/>
                </a:solidFill>
                <a:latin typeface="游ゴシック"/>
              </a:rPr>
              <a:t>交付決定
発注開始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070"/>
                </a:solidFill>
                <a:latin typeface="游ゴシック"/>
              </a:rPr>
              <a:t>ここから
Brainへ支払い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171907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048"/>
                </a:solidFill>
                <a:latin typeface="游ゴシック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216" y="1508760"/>
            <a:ext cx="1828800" cy="640080"/>
          </a:xfrm>
          <a:prstGeom prst="rect">
            <a:avLst/>
          </a:prstGeom>
          <a:solidFill>
            <a:srgbClr val="27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157276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A16"/>
                </a:solidFill>
                <a:latin typeface="游ゴシック"/>
              </a:rPr>
              <a:t>8〜12月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216" y="2212848"/>
            <a:ext cx="1828800" cy="128016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230428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5B8"/>
                </a:solidFill>
                <a:latin typeface="游ゴシック"/>
              </a:rPr>
              <a:t>事業実施
月次支払い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070"/>
                </a:solidFill>
                <a:latin typeface="游ゴシック"/>
              </a:rPr>
              <a:t>立替期間
（最大750万円）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171907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048"/>
                </a:solidFill>
                <a:latin typeface="游ゴシック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93608" y="1508760"/>
            <a:ext cx="1828800" cy="640080"/>
          </a:xfrm>
          <a:prstGeom prst="rect">
            <a:avLst/>
          </a:prstGeom>
          <a:solidFill>
            <a:srgbClr val="6B6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157276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翌1月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2212848"/>
            <a:ext cx="1828800" cy="128016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230428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5B8"/>
                </a:solidFill>
                <a:latin typeface="游ゴシック"/>
              </a:rPr>
              <a:t>完了報告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070"/>
                </a:solidFill>
                <a:latin typeface="游ゴシック"/>
              </a:rPr>
              <a:t>書類提出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2408" y="171907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048"/>
                </a:solidFill>
                <a:latin typeface="游ゴシック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7000" y="1508760"/>
            <a:ext cx="18288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157276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A16"/>
                </a:solidFill>
                <a:latin typeface="游ゴシック"/>
              </a:rPr>
              <a:t>翌3月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87000" y="2212848"/>
            <a:ext cx="1828800" cy="128016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230428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5B8"/>
                </a:solidFill>
                <a:latin typeface="游ゴシック"/>
              </a:rPr>
              <a:t>補助金
入金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070"/>
                </a:solidFill>
                <a:latin typeface="游ゴシック"/>
              </a:rPr>
              <a:t>資金回収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389120"/>
            <a:ext cx="11539728" cy="457200"/>
          </a:xfrm>
          <a:prstGeom prst="rect">
            <a:avLst/>
          </a:prstGeom>
          <a:solidFill>
            <a:srgbClr val="28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462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935A"/>
                </a:solidFill>
                <a:latin typeface="游ゴシック"/>
              </a:rPr>
              <a:t>立替が必要な最大金額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919472"/>
            <a:ext cx="3749039" cy="1170432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001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359"/>
                </a:solidFill>
                <a:latin typeface="游ゴシック"/>
              </a:rPr>
              <a:t>梅プランの場合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3035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游ゴシック"/>
              </a:rPr>
              <a:t>最大 約100万円 の立替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919472"/>
            <a:ext cx="3749039" cy="1170432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5001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359"/>
                </a:solidFill>
                <a:latin typeface="游ゴシック"/>
              </a:rPr>
              <a:t>竹プランの場合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3035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游ゴシック"/>
              </a:rPr>
              <a:t>最大 約400万円 の立替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4919472"/>
            <a:ext cx="3749039" cy="1170432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5001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359"/>
                </a:solidFill>
                <a:latin typeface="游ゴシック"/>
              </a:rPr>
              <a:t>松プランの場合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3035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游ゴシック"/>
              </a:rPr>
              <a:t>最大 約800万円 の立替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6199632"/>
            <a:ext cx="11539728" cy="502920"/>
          </a:xfrm>
          <a:prstGeom prst="rect">
            <a:avLst/>
          </a:prstGeom>
          <a:solidFill>
            <a:srgbClr val="26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630021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A295"/>
                </a:solidFill>
                <a:latin typeface="游ゴシック"/>
              </a:rPr>
              <a:t>対策：日本政策金融公庫の「つなぎ融資」/ Brainとの月次分割払い契約 / 自己資金での対応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游ゴシック"/>
              </a:rPr>
              <a:t>CHECK 05 — 必要書類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游明朝"/>
              </a:rPr>
              <a:t>申請に必要な書類チェックリスト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92608" cy="27432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731520" cy="4572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游ゴシック"/>
              </a:rPr>
              <a:t>必須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716768" cy="45720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5270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游ゴシック"/>
              </a:rPr>
              <a:t>□  【様式1-1】計画申請書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Brain（専門人材）ごとに作成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731520" cy="4572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1031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游ゴシック"/>
              </a:rPr>
              <a:t>必須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011680"/>
            <a:ext cx="10716768" cy="45720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0756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游ゴシック"/>
              </a:rPr>
              <a:t>□  【様式1-2】スケジュール・実施体制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031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支援内容と工程表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60320"/>
            <a:ext cx="731520" cy="4572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65176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游ゴシック"/>
              </a:rPr>
              <a:t>必須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560320"/>
            <a:ext cx="10716768" cy="45720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26243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游ゴシック"/>
              </a:rPr>
              <a:t>□  【様式1-3】専門人材の同意書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Brain代表が署名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108960"/>
            <a:ext cx="731520" cy="4572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2004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游ゴシック"/>
              </a:rPr>
              <a:t>必須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3108960"/>
            <a:ext cx="10716768" cy="45720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172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游ゴシック"/>
              </a:rPr>
              <a:t>□  【様式2】補助対象経費内訳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費用の内訳を記載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57600"/>
            <a:ext cx="731520" cy="4572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74904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游ゴシック"/>
              </a:rPr>
              <a:t>必須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3657600"/>
            <a:ext cx="10716768" cy="45720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3721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游ゴシック"/>
              </a:rPr>
              <a:t>□  【様式3】補助対象経費算定根拠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74904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交通費等の証憑も添付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206240"/>
            <a:ext cx="731520" cy="4572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2976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游ゴシック"/>
              </a:rPr>
              <a:t>必須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4206240"/>
            <a:ext cx="10716768" cy="45720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42702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游ゴシック"/>
              </a:rPr>
              <a:t>□  見積書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2976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Brain作成。時間単価・作業時間を明記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754880"/>
            <a:ext cx="731520" cy="4572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8463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游ゴシック"/>
              </a:rPr>
              <a:t>必須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4754880"/>
            <a:ext cx="10716768" cy="45720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4818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游ゴシック"/>
              </a:rPr>
              <a:t>□  時間単価の算定根拠資料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8463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Brainの過去類似業務の時間単価証憑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303520"/>
            <a:ext cx="731520" cy="4572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39496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游ゴシック"/>
              </a:rPr>
              <a:t>必須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5303520"/>
            <a:ext cx="10716768" cy="45720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4440" y="5367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游ゴシック"/>
              </a:rPr>
              <a:t>□  【様式4】チェックリスト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3949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申請内容に不備がないか確認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852160"/>
            <a:ext cx="731520" cy="457200"/>
          </a:xfrm>
          <a:prstGeom prst="rect">
            <a:avLst/>
          </a:prstGeom>
          <a:solidFill>
            <a:srgbClr val="6B6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9436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游ゴシック"/>
              </a:rPr>
              <a:t>条件付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7280" y="5852160"/>
            <a:ext cx="10716768" cy="45720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4440" y="5916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游ゴシック"/>
              </a:rPr>
              <a:t>□  申請団体の存立証明書類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9436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游ゴシック"/>
              </a:rPr>
              <a:t>観光協会の場合は必須（登記事項証明書等）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92240"/>
            <a:ext cx="1153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080"/>
                </a:solidFill>
                <a:latin typeface="游ゴシック"/>
              </a:rPr>
              <a:t>※ 時間単価の証憑（過去類似業務の請求書・契約書等）がBrain側で準備できるか事前確認が必要です。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游ゴシック"/>
              </a:rPr>
              <a:t>CHECK 06 — 今週のタスク一覧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游明朝"/>
              </a:rPr>
              <a:t>誰が・何を・いつまでに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92608" cy="27432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371600" cy="54864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81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1A16"/>
                </a:solidFill>
                <a:latin typeface="游ゴシック"/>
              </a:rPr>
              <a:t>小野氏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463040"/>
            <a:ext cx="9784080" cy="54864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58191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游ゴシック"/>
              </a:rPr>
              <a:t>□  プラン選択（松・竹・梅）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581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0392B"/>
                </a:solidFill>
                <a:latin typeface="游ゴシック"/>
              </a:rPr>
              <a:t>本日中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12264"/>
            <a:ext cx="1371600" cy="54864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311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1A16"/>
                </a:solidFill>
                <a:latin typeface="游ゴシック"/>
              </a:rPr>
              <a:t>小野氏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112264"/>
            <a:ext cx="9784080" cy="54864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223113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游ゴシック"/>
              </a:rPr>
              <a:t>□  申請者の確定（TOJISM or 丸正旅館）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2311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0392B"/>
                </a:solidFill>
                <a:latin typeface="游ゴシック"/>
              </a:rPr>
              <a:t>本日中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61488"/>
            <a:ext cx="1371600" cy="54864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8803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1A16"/>
                </a:solidFill>
                <a:latin typeface="游ゴシック"/>
              </a:rPr>
              <a:t>小野氏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761488"/>
            <a:ext cx="9784080" cy="54864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288036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游ゴシック"/>
              </a:rPr>
              <a:t>□  キャッシュフロー手当の確認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80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0392B"/>
                </a:solidFill>
                <a:latin typeface="游ゴシック"/>
              </a:rPr>
              <a:t>今週中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10712"/>
            <a:ext cx="1371600" cy="54864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5295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1A16"/>
                </a:solidFill>
                <a:latin typeface="游ゴシック"/>
              </a:rPr>
              <a:t>小野氏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410712"/>
            <a:ext cx="9784080" cy="54864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3529584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游ゴシック"/>
              </a:rPr>
              <a:t>□  補助金 参加申込（特設サイト）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295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0392B"/>
                </a:solidFill>
                <a:latin typeface="游ゴシック"/>
              </a:rPr>
              <a:t>5月22日（木）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59936"/>
            <a:ext cx="13716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178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1A16"/>
                </a:solidFill>
                <a:latin typeface="游ゴシック"/>
              </a:rPr>
              <a:t>Brain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4059936"/>
            <a:ext cx="9784080" cy="54864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19" y="4178808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游ゴシック"/>
              </a:rPr>
              <a:t>□  計画申請書（様式1〜4）の起草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178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0392B"/>
                </a:solidFill>
                <a:latin typeface="游ゴシック"/>
              </a:rPr>
              <a:t>5月28日（水）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709160"/>
            <a:ext cx="13716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8280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1A16"/>
                </a:solidFill>
                <a:latin typeface="游ゴシック"/>
              </a:rPr>
              <a:t>Brain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4709160"/>
            <a:ext cx="9784080" cy="54864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4519" y="482803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游ゴシック"/>
              </a:rPr>
              <a:t>□  見積書・時間単価根拠資料の作成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828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0392B"/>
                </a:solidFill>
                <a:latin typeface="游ゴシック"/>
              </a:rPr>
              <a:t>5月28日（水）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358384"/>
            <a:ext cx="1371600" cy="548640"/>
          </a:xfrm>
          <a:prstGeom prst="rect">
            <a:avLst/>
          </a:prstGeom>
          <a:solidFill>
            <a:srgbClr val="66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4772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1A16"/>
                </a:solidFill>
                <a:latin typeface="游ゴシック"/>
              </a:rPr>
              <a:t>小野氏+Brain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37360" y="5358384"/>
            <a:ext cx="9784080" cy="54864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547725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游ゴシック"/>
              </a:rPr>
              <a:t>□  計画申請の最終確認・提出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4772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0392B"/>
                </a:solidFill>
                <a:latin typeface="游ゴシック"/>
              </a:rPr>
              <a:t>5月29日（木）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007608"/>
            <a:ext cx="1371600" cy="54864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6126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1A16"/>
                </a:solidFill>
                <a:latin typeface="游ゴシック"/>
              </a:rPr>
              <a:t>小野氏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6007608"/>
            <a:ext cx="9784080" cy="54864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74519" y="612648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游ゴシック"/>
              </a:rPr>
              <a:t>□  LPコンテンツ素材の提供（MISSION等）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6126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6359"/>
                </a:solidFill>
                <a:latin typeface="游ゴシック"/>
              </a:rPr>
              <a:t>5月末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