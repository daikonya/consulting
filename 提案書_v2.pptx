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7" autoAdjust="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FCCCA-0F85-4B68-809E-6823C3B323F6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4383C-76E9-4068-9870-710318D0CC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125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4383C-76E9-4068-9870-710318D0CC2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698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6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54864" cy="68580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0" y="640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Yu Gothic"/>
              </a:rPr>
              <a:t>Business Proposal  /  2026.05.07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8872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>
                <a:solidFill>
                  <a:srgbClr val="FFFFFF"/>
                </a:solidFill>
                <a:latin typeface="Yu Mincho"/>
              </a:rPr>
              <a:t>旅館・飲食業
コンサルティング
ブランディング戦略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090"/>
                </a:solidFill>
                <a:latin typeface="Yu Gothic"/>
              </a:rPr>
              <a:t>Web戦略 / 集客設計 / サポートプランのご提案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提案先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  <a:latin typeface="Yu Mincho"/>
              </a:rPr>
              <a:t>小野</a:t>
            </a:r>
            <a:r>
              <a:rPr sz="1600" b="0" dirty="0">
                <a:solidFill>
                  <a:srgbClr val="FFFFFF"/>
                </a:solidFill>
                <a:latin typeface="Yu Mincho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Yu Mincho"/>
              </a:rPr>
              <a:t>順平</a:t>
            </a:r>
            <a:r>
              <a:rPr sz="1600" b="0" dirty="0">
                <a:solidFill>
                  <a:srgbClr val="FFFFFF"/>
                </a:solidFill>
                <a:latin typeface="Yu Mincho"/>
              </a:rPr>
              <a:t> 氏
</a:t>
            </a:r>
            <a:r>
              <a:rPr sz="1600" b="0" dirty="0" err="1">
                <a:solidFill>
                  <a:srgbClr val="FFFFFF"/>
                </a:solidFill>
                <a:latin typeface="Yu Mincho"/>
              </a:rPr>
              <a:t>株式会社TOJISM</a:t>
            </a:r>
            <a:endParaRPr sz="1600" b="0" dirty="0">
              <a:solidFill>
                <a:srgbClr val="FFFFFF"/>
              </a:solidFill>
              <a:latin typeface="Yu Minch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B8935A"/>
                </a:solidFill>
                <a:latin typeface="Yu Gothic"/>
              </a:rPr>
              <a:t>提案者</a:t>
            </a:r>
            <a:endParaRPr sz="900" b="0" dirty="0">
              <a:solidFill>
                <a:srgbClr val="B8935A"/>
              </a:solidFill>
              <a:latin typeface="Yu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3337560"/>
            <a:ext cx="3200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FFFFFF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合同会社Brain</a:t>
            </a:r>
            <a:r>
              <a:rPr sz="1300" b="0" dirty="0">
                <a:solidFill>
                  <a:srgbClr val="FFFFFF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
鵜木 </a:t>
            </a:r>
            <a:r>
              <a:rPr lang="ja-JP" altLang="en-US" sz="1300" dirty="0">
                <a:solidFill>
                  <a:srgbClr val="FFFFFF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寛文</a:t>
            </a:r>
            <a:endParaRPr sz="1300" b="0" dirty="0">
              <a:solidFill>
                <a:srgbClr val="FFFFFF"/>
              </a:solidFill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4846320"/>
            <a:ext cx="3383280" cy="1691640"/>
          </a:xfrm>
          <a:prstGeom prst="rect">
            <a:avLst/>
          </a:prstGeom>
          <a:solidFill>
            <a:srgbClr val="282622"/>
          </a:solidFill>
          <a:ln w="9525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4983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本日のゴール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32180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コンサルブランドの方向性に合意し
具体的な支援プランを決定する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C1A16"/>
                </a:solidFill>
                <a:latin typeface="Yu Mincho"/>
              </a:rPr>
              <a:t>本日のアジェンダ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1173175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8935A"/>
                </a:solidFill>
                <a:latin typeface="Yu Minch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819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A16"/>
                </a:solidFill>
                <a:latin typeface="Yu Gothic"/>
              </a:rPr>
              <a:t>ブランディング戦略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116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359"/>
                </a:solidFill>
                <a:latin typeface="Yu Gothic"/>
              </a:rPr>
              <a:t>ポジショニング・ターゲット・差別化軸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1810512"/>
            <a:ext cx="1463040" cy="329184"/>
          </a:xfrm>
          <a:prstGeom prst="rect">
            <a:avLst/>
          </a:prstGeom>
          <a:solidFill>
            <a:srgbClr val="999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0" y="18745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15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651760"/>
            <a:ext cx="1173175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78892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8935A"/>
                </a:solidFill>
                <a:latin typeface="Yu Minch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706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A16"/>
                </a:solidFill>
                <a:latin typeface="Yu Gothic"/>
              </a:rPr>
              <a:t>Web戦略・集客ファネル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004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359"/>
                </a:solidFill>
                <a:latin typeface="Yu Gothic"/>
              </a:rPr>
              <a:t>LP / 公式LINE / マーケ計画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999232"/>
            <a:ext cx="1463040" cy="329184"/>
          </a:xfrm>
          <a:prstGeom prst="rect">
            <a:avLst/>
          </a:prstGeom>
          <a:solidFill>
            <a:srgbClr val="999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0" y="30632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15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840480"/>
            <a:ext cx="1173175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97764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8935A"/>
                </a:solidFill>
                <a:latin typeface="Yu Minch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9593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A16"/>
                </a:solidFill>
                <a:latin typeface="Yu Gothic"/>
              </a:rPr>
              <a:t>サービスプラン比較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891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359"/>
                </a:solidFill>
                <a:latin typeface="Yu Gothic"/>
              </a:rPr>
              <a:t>ライト / スタンダード / プレミアム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4187952"/>
            <a:ext cx="1463040" cy="329184"/>
          </a:xfrm>
          <a:prstGeom prst="rect">
            <a:avLst/>
          </a:prstGeom>
          <a:solidFill>
            <a:srgbClr val="999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0" y="4251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10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029200"/>
            <a:ext cx="1173175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516636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8935A"/>
                </a:solidFill>
                <a:latin typeface="Yu Minch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480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A16"/>
                </a:solidFill>
                <a:latin typeface="Yu Gothic"/>
              </a:rPr>
              <a:t>サービス詳細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7784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359"/>
                </a:solidFill>
                <a:latin typeface="Yu Gothic"/>
              </a:rPr>
              <a:t>LP / LINE / ブランディング / マーケ / SNS /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5376672"/>
            <a:ext cx="1463040" cy="329184"/>
          </a:xfrm>
          <a:prstGeom prst="rect">
            <a:avLst/>
          </a:prstGeom>
          <a:solidFill>
            <a:srgbClr val="999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41280" y="54406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30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01 -- BRANDING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Yu Mincho"/>
              </a:rPr>
              <a:t>ターゲット戦略：2つの顧客像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669280" cy="4114800"/>
          </a:xfrm>
          <a:prstGeom prst="rect">
            <a:avLst/>
          </a:prstGeom>
          <a:solidFill>
            <a:srgbClr val="22201C"/>
          </a:solidFill>
          <a:ln w="19050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572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TARGET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74519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Mincho"/>
              </a:rPr>
              <a:t>経営改善・集客強化を
求めるオーナー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62656"/>
            <a:ext cx="64008" cy="64008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8986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売上・集客に課題を感じている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465576"/>
            <a:ext cx="64008" cy="64008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4015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予約サイト依存から脱却したい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968496"/>
            <a:ext cx="64008" cy="64008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9044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AIやDXを導入したいが方法がわからない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471416"/>
            <a:ext cx="64008" cy="64008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4074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人材採用・定着に悩んでいる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5833872" cy="4114800"/>
          </a:xfrm>
          <a:prstGeom prst="rect">
            <a:avLst/>
          </a:prstGeom>
          <a:solidFill>
            <a:srgbClr val="182A22"/>
          </a:solidFill>
          <a:ln w="19050">
            <a:solidFill>
              <a:srgbClr val="1A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1371600" cy="411480"/>
          </a:xfrm>
          <a:prstGeom prst="rect">
            <a:avLst/>
          </a:prstGeom>
          <a:solidFill>
            <a:srgbClr val="1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4813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1A16"/>
                </a:solidFill>
                <a:latin typeface="Yu Gothic"/>
              </a:rPr>
              <a:t>NEW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572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7A5E"/>
                </a:solidFill>
                <a:latin typeface="Yu Gothic"/>
              </a:rPr>
              <a:t>TARGET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874519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Mincho"/>
              </a:rPr>
              <a:t>事業承継・出口戦略を
検討している経営者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962656"/>
            <a:ext cx="64008" cy="64008"/>
          </a:xfrm>
          <a:prstGeom prst="rect">
            <a:avLst/>
          </a:prstGeom>
          <a:solidFill>
            <a:srgbClr val="1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8986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後継者がおらず廃業を検討している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465576"/>
            <a:ext cx="64008" cy="64008"/>
          </a:xfrm>
          <a:prstGeom prst="rect">
            <a:avLst/>
          </a:prstGeom>
          <a:solidFill>
            <a:srgbClr val="1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M&amp;A・第三者承継に興味があるが手続きがわからない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968496"/>
            <a:ext cx="64008" cy="64008"/>
          </a:xfrm>
          <a:prstGeom prst="rect">
            <a:avLst/>
          </a:prstGeom>
          <a:solidFill>
            <a:srgbClr val="1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9044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引退前に施設の価値を最大化したい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471416"/>
            <a:ext cx="64008" cy="64008"/>
          </a:xfrm>
          <a:prstGeom prst="rect">
            <a:avLst/>
          </a:prstGeom>
          <a:solidFill>
            <a:srgbClr val="1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4074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従業員の雇用を守りながら事業を継続させたい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650992"/>
            <a:ext cx="11731752" cy="1005840"/>
          </a:xfrm>
          <a:prstGeom prst="rect">
            <a:avLst/>
          </a:prstGeom>
          <a:solidFill>
            <a:srgbClr val="26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5742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市場規模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35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070"/>
                </a:solidFill>
                <a:latin typeface="Yu Gothic"/>
              </a:rPr>
              <a:t>飲食店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291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約60万店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6035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070"/>
                </a:solidFill>
                <a:latin typeface="Yu Gothic"/>
              </a:rPr>
              <a:t>旅館・ホテル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6291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約5万施設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6035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070"/>
                </a:solidFill>
                <a:latin typeface="Yu Gothic"/>
              </a:rPr>
              <a:t>経営者60歳以上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6291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飲食業 約55%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6035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070"/>
                </a:solidFill>
                <a:latin typeface="Yu Gothic"/>
              </a:rPr>
              <a:t>事業承継課題あり（推計）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6291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約25万事業者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0992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55048"/>
                </a:solidFill>
                <a:latin typeface="Yu Gothic"/>
              </a:rPr>
              <a:t>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5303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070"/>
                </a:solidFill>
                <a:latin typeface="Yu Gothic"/>
              </a:rPr>
              <a:t>対象者が広がることで
専門性も高まる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02 -- WEB STRATEGY /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Yu Mincho"/>
              </a:rPr>
              <a:t>集客ファネル設計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486400" cy="749808"/>
          </a:xfrm>
          <a:prstGeom prst="rect">
            <a:avLst/>
          </a:prstGeom>
          <a:solidFill>
            <a:srgbClr val="22201C"/>
          </a:solidFill>
          <a:ln w="5080">
            <a:solidFill>
              <a:srgbClr val="444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5B8"/>
                </a:solidFill>
                <a:latin typeface="Yu Gothic"/>
              </a:rPr>
              <a:t>認知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562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Yu Gothic"/>
              </a:rPr>
              <a:t>Google検索 / セミナー登壇 / 紹介・口コミ / Instagram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1671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8935A"/>
                </a:solidFill>
                <a:latin typeface="Yu Gothic"/>
              </a:rPr>
              <a:t>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31720"/>
            <a:ext cx="5486400" cy="749808"/>
          </a:xfrm>
          <a:prstGeom prst="rect">
            <a:avLst/>
          </a:prstGeom>
          <a:solidFill>
            <a:srgbClr val="282622"/>
          </a:solidFill>
          <a:ln w="15240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423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7A"/>
                </a:solidFill>
                <a:latin typeface="Yu Gothic"/>
              </a:rPr>
              <a:t>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70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Yu Gothic"/>
              </a:rPr>
              <a:t>信頼構築・サービス訴求・無料相談CTA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0815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8935A"/>
                </a:solidFill>
                <a:latin typeface="Yu Gothic"/>
              </a:rPr>
              <a:t>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246120"/>
            <a:ext cx="5486400" cy="749808"/>
          </a:xfrm>
          <a:prstGeom prst="rect">
            <a:avLst/>
          </a:prstGeom>
          <a:solidFill>
            <a:srgbClr val="065028"/>
          </a:solidFill>
          <a:ln w="15240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337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F7A"/>
                </a:solidFill>
                <a:latin typeface="Yu Gothic"/>
              </a:rPr>
              <a:t>公式LINE 登録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6850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Yu Gothic"/>
              </a:rPr>
              <a:t>自動フォロー配信・セミナー案内・相談予約導線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9959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8935A"/>
                </a:solidFill>
                <a:latin typeface="Yu Gothic"/>
              </a:rPr>
              <a:t>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160520"/>
            <a:ext cx="5486400" cy="749808"/>
          </a:xfrm>
          <a:prstGeom prst="rect">
            <a:avLst/>
          </a:prstGeom>
          <a:solidFill>
            <a:srgbClr val="22201C"/>
          </a:solidFill>
          <a:ln w="5080">
            <a:solidFill>
              <a:srgbClr val="444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4251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5B8"/>
                </a:solidFill>
                <a:latin typeface="Yu Gothic"/>
              </a:rPr>
              <a:t>無料相談（60分）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994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Yu Gothic"/>
              </a:rPr>
              <a:t>課題ヒアリング → プラン提案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9103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8935A"/>
                </a:solidFill>
                <a:latin typeface="Yu Gothic"/>
              </a:rPr>
              <a:t>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074920"/>
            <a:ext cx="5486400" cy="749808"/>
          </a:xfrm>
          <a:prstGeom prst="rect">
            <a:avLst/>
          </a:prstGeom>
          <a:solidFill>
            <a:srgbClr val="22201C"/>
          </a:solidFill>
          <a:ln w="5080">
            <a:solidFill>
              <a:srgbClr val="444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166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5B8"/>
                </a:solidFill>
                <a:latin typeface="Yu Gothic"/>
              </a:rPr>
              <a:t>契約・支援スタート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5138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Yu Gothic"/>
              </a:rPr>
              <a:t>ライト / スタンダード / プレミアム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417319"/>
            <a:ext cx="5879592" cy="948573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935A"/>
                </a:solidFill>
                <a:latin typeface="Yu Gothic"/>
              </a:rPr>
              <a:t>ターゲット市場規模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810512"/>
            <a:ext cx="5577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飲食+旅館・ホテル 約65万事業者 / うち事業承継課題 約25万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503053"/>
            <a:ext cx="5879592" cy="2103120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261278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935A"/>
                </a:solidFill>
                <a:latin typeface="Yu Gothic"/>
              </a:rPr>
              <a:t>年間KPI目標（テストマーケ期）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94196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月間LP訪問者数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94196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200〜500 PV（6ヶ月以降）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32601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LINE登録数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32601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月2〜5件（B2Bのため厳選）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71006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無料相談申込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71006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月1〜2件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09410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成約（年間）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09410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</a:rPr>
              <a:t>6〜10件（月1件ペース達成が目標）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4743333"/>
            <a:ext cx="5879592" cy="1097280"/>
          </a:xfrm>
          <a:prstGeom prst="rect">
            <a:avLst/>
          </a:prstGeom>
          <a:solidFill>
            <a:srgbClr val="18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4843917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7A5E"/>
                </a:solidFill>
                <a:latin typeface="Yu Gothic"/>
              </a:rPr>
              <a:t>B2B集客の特性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118237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一般消費者向けLINEと異なり、経営者へのリーチはセミナー・紹介が主体。
LINEは温めた見込み客との関係維持ツールとして活用。月1件の成約が
テストマーケティングの現実的な目標。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03 -- SERVICE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dirty="0" err="1">
                <a:solidFill>
                  <a:srgbClr val="1C1A16"/>
                </a:solidFill>
                <a:latin typeface="Yu Mincho"/>
              </a:rPr>
              <a:t>サービスプラン比較</a:t>
            </a:r>
            <a:endParaRPr sz="2600" b="0" dirty="0">
              <a:solidFill>
                <a:srgbClr val="1C1A16"/>
              </a:solidFill>
              <a:latin typeface="Yu Minch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215695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371143"/>
            <a:ext cx="2834640" cy="1097280"/>
          </a:xfrm>
          <a:prstGeom prst="rect">
            <a:avLst/>
          </a:prstGeom>
          <a:solidFill>
            <a:srgbClr val="EEEAE3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54680" y="1371143"/>
            <a:ext cx="2880360" cy="1097280"/>
          </a:xfrm>
          <a:prstGeom prst="rect">
            <a:avLst/>
          </a:prstGeom>
          <a:solidFill>
            <a:srgbClr val="F0EDE8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396361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A16"/>
                </a:solidFill>
                <a:latin typeface="Yu Mincho"/>
              </a:rPr>
              <a:t>ライト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762121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935A"/>
                </a:solidFill>
                <a:latin typeface="Yu Gothic"/>
              </a:rPr>
              <a:t>150万円/年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143"/>
            <a:ext cx="2880360" cy="1097280"/>
          </a:xfrm>
          <a:prstGeom prst="rect">
            <a:avLst/>
          </a:prstGeom>
          <a:solidFill>
            <a:srgbClr val="26231E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396361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Mincho"/>
              </a:rPr>
              <a:t>スタンダード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762121"/>
            <a:ext cx="2697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1400" b="1" dirty="0">
                <a:solidFill>
                  <a:srgbClr val="D4AF7A"/>
                </a:solidFill>
                <a:latin typeface="Yu Gothic"/>
              </a:rPr>
              <a:t>45</a:t>
            </a:r>
            <a:r>
              <a:rPr sz="1400" b="1" dirty="0">
                <a:solidFill>
                  <a:srgbClr val="D4AF7A"/>
                </a:solidFill>
                <a:latin typeface="Yu Gothic"/>
              </a:rPr>
              <a:t>0万円/年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371143"/>
            <a:ext cx="2862072" cy="1097280"/>
          </a:xfrm>
          <a:prstGeom prst="rect">
            <a:avLst/>
          </a:prstGeom>
          <a:solidFill>
            <a:srgbClr val="1C1A16"/>
          </a:solidFill>
          <a:ln w="635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8" y="1396361"/>
            <a:ext cx="2679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Mincho"/>
              </a:rPr>
              <a:t>プレミアム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1762121"/>
            <a:ext cx="2679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D4AF7A"/>
                </a:solidFill>
                <a:latin typeface="Yu Gothic"/>
              </a:rPr>
              <a:t>800</a:t>
            </a:r>
            <a:r>
              <a:rPr sz="1400" b="1" dirty="0">
                <a:solidFill>
                  <a:srgbClr val="D4AF7A"/>
                </a:solidFill>
                <a:latin typeface="Yu Gothic"/>
              </a:rPr>
              <a:t>万円/年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532431"/>
            <a:ext cx="2834640" cy="493776"/>
          </a:xfrm>
          <a:prstGeom prst="rect">
            <a:avLst/>
          </a:prstGeom>
          <a:solidFill>
            <a:srgbClr val="EEEAE3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" y="264215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A16"/>
                </a:solidFill>
                <a:latin typeface="Yu Gothic"/>
              </a:rPr>
              <a:t>支援期間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2532431"/>
            <a:ext cx="288036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46120" y="2642159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A16"/>
                </a:solidFill>
                <a:latin typeface="Yu Gothic"/>
              </a:rPr>
              <a:t>2ヶ月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532431"/>
            <a:ext cx="2880360" cy="493776"/>
          </a:xfrm>
          <a:prstGeom prst="rect">
            <a:avLst/>
          </a:prstGeom>
          <a:solidFill>
            <a:srgbClr val="22201C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2642159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6ヶ月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2532431"/>
            <a:ext cx="2862072" cy="493776"/>
          </a:xfrm>
          <a:prstGeom prst="rect">
            <a:avLst/>
          </a:prstGeom>
          <a:solidFill>
            <a:srgbClr val="1C1A16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264215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7A"/>
                </a:solidFill>
                <a:latin typeface="Yu Gothic"/>
              </a:rPr>
              <a:t>12ヶ月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026207"/>
            <a:ext cx="2834640" cy="493776"/>
          </a:xfrm>
          <a:prstGeom prst="rect">
            <a:avLst/>
          </a:prstGeom>
          <a:solidFill>
            <a:srgbClr val="EEEAE3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8" y="3135935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A16"/>
                </a:solidFill>
                <a:latin typeface="Yu Gothic"/>
              </a:rPr>
              <a:t>LP制作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3026207"/>
            <a:ext cx="2880360" cy="493776"/>
          </a:xfrm>
          <a:prstGeom prst="rect">
            <a:avLst/>
          </a:prstGeom>
          <a:solidFill>
            <a:srgbClr val="FAF8F4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3135935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A16"/>
                </a:solidFill>
                <a:latin typeface="Yu Gothic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026207"/>
            <a:ext cx="2880360" cy="493776"/>
          </a:xfrm>
          <a:prstGeom prst="rect">
            <a:avLst/>
          </a:prstGeom>
          <a:solidFill>
            <a:srgbClr val="22201C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3135935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3026207"/>
            <a:ext cx="2862072" cy="493776"/>
          </a:xfrm>
          <a:prstGeom prst="rect">
            <a:avLst/>
          </a:prstGeom>
          <a:solidFill>
            <a:srgbClr val="1C1A16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89720" y="3135935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7A"/>
                </a:solidFill>
                <a:latin typeface="Yu Gothic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519983"/>
            <a:ext cx="2834640" cy="493776"/>
          </a:xfrm>
          <a:prstGeom prst="rect">
            <a:avLst/>
          </a:prstGeom>
          <a:solidFill>
            <a:srgbClr val="EEEAE3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8328" y="362971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A16"/>
                </a:solidFill>
                <a:latin typeface="Yu Gothic"/>
              </a:rPr>
              <a:t>公式LINE構築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519983"/>
            <a:ext cx="288036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46120" y="3629711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A16"/>
                </a:solidFill>
                <a:latin typeface="Yu Gothic"/>
              </a:rPr>
              <a:t>基本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519983"/>
            <a:ext cx="2880360" cy="493776"/>
          </a:xfrm>
          <a:prstGeom prst="rect">
            <a:avLst/>
          </a:prstGeom>
          <a:solidFill>
            <a:srgbClr val="22201C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3629711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フル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3519983"/>
            <a:ext cx="2862072" cy="493776"/>
          </a:xfrm>
          <a:prstGeom prst="rect">
            <a:avLst/>
          </a:prstGeom>
          <a:solidFill>
            <a:srgbClr val="1C1A16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89720" y="3629711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7A"/>
                </a:solidFill>
                <a:latin typeface="Yu Gothic"/>
              </a:rPr>
              <a:t>フル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013759"/>
            <a:ext cx="2834640" cy="493776"/>
          </a:xfrm>
          <a:prstGeom prst="rect">
            <a:avLst/>
          </a:prstGeom>
          <a:solidFill>
            <a:srgbClr val="EEEAE3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8328" y="4123487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A16"/>
                </a:solidFill>
                <a:latin typeface="Yu Gothic"/>
              </a:rPr>
              <a:t>LINE広告 60万/年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4013759"/>
            <a:ext cx="2880360" cy="493776"/>
          </a:xfrm>
          <a:prstGeom prst="rect">
            <a:avLst/>
          </a:prstGeom>
          <a:solidFill>
            <a:srgbClr val="FAF8F4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46120" y="4123487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A16"/>
                </a:solidFill>
                <a:latin typeface="Yu Gothic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013759"/>
            <a:ext cx="2880360" cy="493776"/>
          </a:xfrm>
          <a:prstGeom prst="rect">
            <a:avLst/>
          </a:prstGeom>
          <a:solidFill>
            <a:srgbClr val="22201C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0" y="4123487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4013759"/>
            <a:ext cx="2862072" cy="493776"/>
          </a:xfrm>
          <a:prstGeom prst="rect">
            <a:avLst/>
          </a:prstGeom>
          <a:solidFill>
            <a:srgbClr val="1C1A16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89720" y="4123487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7A"/>
                </a:solidFill>
                <a:latin typeface="Yu Gothic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4507535"/>
            <a:ext cx="2834640" cy="493776"/>
          </a:xfrm>
          <a:prstGeom prst="rect">
            <a:avLst/>
          </a:prstGeom>
          <a:solidFill>
            <a:srgbClr val="EEEAE3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8328" y="4617263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A16"/>
                </a:solidFill>
                <a:latin typeface="Yu Gothic"/>
              </a:rPr>
              <a:t>ブランディング戦略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4507535"/>
            <a:ext cx="288036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46120" y="4617263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088"/>
                </a:solidFill>
                <a:latin typeface="Yu Gothic"/>
              </a:rP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4507535"/>
            <a:ext cx="2880360" cy="493776"/>
          </a:xfrm>
          <a:prstGeom prst="rect">
            <a:avLst/>
          </a:prstGeom>
          <a:solidFill>
            <a:srgbClr val="22201C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17920" y="4617263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4507535"/>
            <a:ext cx="2862072" cy="493776"/>
          </a:xfrm>
          <a:prstGeom prst="rect">
            <a:avLst/>
          </a:prstGeom>
          <a:solidFill>
            <a:srgbClr val="1C1A16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89720" y="4617263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7A"/>
                </a:solidFill>
                <a:latin typeface="Yu Gothic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5001311"/>
            <a:ext cx="2834640" cy="493776"/>
          </a:xfrm>
          <a:prstGeom prst="rect">
            <a:avLst/>
          </a:prstGeom>
          <a:solidFill>
            <a:srgbClr val="EEEAE3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38328" y="511103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A16"/>
                </a:solidFill>
                <a:latin typeface="Yu Gothic"/>
              </a:rPr>
              <a:t>月次マーケ支援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54680" y="5001311"/>
            <a:ext cx="2880360" cy="493776"/>
          </a:xfrm>
          <a:prstGeom prst="rect">
            <a:avLst/>
          </a:prstGeom>
          <a:solidFill>
            <a:srgbClr val="FAF8F4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46120" y="5111039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088"/>
                </a:solidFill>
                <a:latin typeface="Yu Gothic"/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80" y="5001311"/>
            <a:ext cx="2880360" cy="493776"/>
          </a:xfrm>
          <a:prstGeom prst="rect">
            <a:avLst/>
          </a:prstGeom>
          <a:solidFill>
            <a:srgbClr val="22201C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17920" y="5111039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Yu Gothic"/>
              </a:rPr>
              <a:t>4ヶ月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98280" y="5001311"/>
            <a:ext cx="2862072" cy="493776"/>
          </a:xfrm>
          <a:prstGeom prst="rect">
            <a:avLst/>
          </a:prstGeom>
          <a:solidFill>
            <a:srgbClr val="1C1A16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89720" y="511103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7A"/>
                </a:solidFill>
                <a:latin typeface="Yu Gothic"/>
              </a:rPr>
              <a:t>12ヶ月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5495087"/>
            <a:ext cx="2834640" cy="493776"/>
          </a:xfrm>
          <a:prstGeom prst="rect">
            <a:avLst/>
          </a:prstGeom>
          <a:solidFill>
            <a:srgbClr val="EEEAE3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38328" y="5604815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A16"/>
                </a:solidFill>
                <a:latin typeface="Yu Gothic"/>
              </a:rPr>
              <a:t>SNS動画制作・運用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54680" y="5495087"/>
            <a:ext cx="288036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246120" y="5604815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088"/>
                </a:solidFill>
                <a:latin typeface="Yu Gothic"/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5495087"/>
            <a:ext cx="2880360" cy="493776"/>
          </a:xfrm>
          <a:prstGeom prst="rect">
            <a:avLst/>
          </a:prstGeom>
          <a:solidFill>
            <a:srgbClr val="22201C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17920" y="5604815"/>
            <a:ext cx="27157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Yu Gothic"/>
              </a:rPr>
              <a:t>✓ 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98280" y="5495087"/>
            <a:ext cx="2862072" cy="493776"/>
          </a:xfrm>
          <a:prstGeom prst="rect">
            <a:avLst/>
          </a:prstGeom>
          <a:solidFill>
            <a:srgbClr val="1C1A16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89720" y="5604815"/>
            <a:ext cx="2697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D4AF7A"/>
                </a:solidFill>
                <a:latin typeface="Yu Gothic"/>
              </a:rPr>
              <a:t>✓ 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5988863"/>
            <a:ext cx="2834640" cy="493776"/>
          </a:xfrm>
          <a:prstGeom prst="rect">
            <a:avLst/>
          </a:prstGeom>
          <a:solidFill>
            <a:srgbClr val="EEEAE3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38328" y="609859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C1A16"/>
                </a:solidFill>
                <a:latin typeface="Yu Gothic"/>
              </a:rPr>
              <a:t>AI活用・自動ブログ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54680" y="5988863"/>
            <a:ext cx="2880360" cy="493776"/>
          </a:xfrm>
          <a:prstGeom prst="rect">
            <a:avLst/>
          </a:prstGeom>
          <a:solidFill>
            <a:srgbClr val="FAF8F4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246120" y="6098591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088"/>
                </a:solidFill>
                <a:latin typeface="Yu Gothic"/>
              </a:rPr>
              <a:t>-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26480" y="5988863"/>
            <a:ext cx="2880360" cy="493776"/>
          </a:xfrm>
          <a:prstGeom prst="rect">
            <a:avLst/>
          </a:prstGeom>
          <a:solidFill>
            <a:srgbClr val="22201C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217920" y="6098591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088"/>
                </a:solidFill>
                <a:latin typeface="Yu Gothic"/>
              </a:rPr>
              <a:t>-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98280" y="5988863"/>
            <a:ext cx="2862072" cy="493776"/>
          </a:xfrm>
          <a:prstGeom prst="rect">
            <a:avLst/>
          </a:prstGeom>
          <a:solidFill>
            <a:srgbClr val="1C1A16"/>
          </a:solidFill>
          <a:ln w="5080">
            <a:solidFill>
              <a:srgbClr val="DD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189720" y="6098591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7A"/>
                </a:solidFill>
                <a:latin typeface="Yu Gothic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7000" y="940928"/>
            <a:ext cx="4790649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6B6359"/>
                </a:solidFill>
                <a:latin typeface="Yu Gothic"/>
              </a:rPr>
              <a:t>※</a:t>
            </a:r>
            <a:r>
              <a:rPr sz="850" b="0" dirty="0" err="1">
                <a:solidFill>
                  <a:srgbClr val="6B6359"/>
                </a:solidFill>
                <a:latin typeface="Yu Gothic"/>
              </a:rPr>
              <a:t>SNS制作費・LINE広告費は実費扱いで別途計上。Brain人件費のみ補助金申請対象</a:t>
            </a:r>
            <a:r>
              <a:rPr sz="850" b="0" dirty="0">
                <a:solidFill>
                  <a:srgbClr val="6B6359"/>
                </a:solidFill>
                <a:latin typeface="Yu Gothic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SERVICE DETAIL 01 -- LP /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Yu Mincho"/>
              </a:rPr>
              <a:t>LP（ランディングページ）制作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0" y="1828800"/>
            <a:ext cx="8531352" cy="3474720"/>
          </a:xfrm>
          <a:prstGeom prst="rect">
            <a:avLst/>
          </a:prstGeom>
          <a:solidFill>
            <a:srgbClr val="22201C"/>
          </a:solidFill>
          <a:ln w="9525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D4AF7A"/>
                </a:solidFill>
                <a:latin typeface="Yu Mincho"/>
              </a:rPr>
              <a:t>LP は別途ご覧いただきます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27248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295"/>
                </a:solidFill>
                <a:latin typeface="Yu Gothic"/>
              </a:rPr>
              <a:t>現在制作中のLPをプロジェクターに投影してご説明します。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058"/>
                </a:solidFill>
                <a:latin typeface="Yu Gothic"/>
              </a:rPr>
              <a:t>URL:  C:\project\daikonya\index.html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SERVICE DETAIL 02 -- 公式LINE構築 + LINE広告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Yu Mincho"/>
              </a:rPr>
              <a:t>公式LINE構築 + LINE広告運用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577840" cy="4297680"/>
          </a:xfrm>
          <a:prstGeom prst="rect">
            <a:avLst/>
          </a:prstGeom>
          <a:solidFill>
            <a:srgbClr val="22201C"/>
          </a:solidFill>
          <a:ln w="127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Yu Gothic"/>
              </a:rPr>
              <a:t>公式LINE 構築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39696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0665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アカウント設定・プロフィール・アイコン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42616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56946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リッチメニュー設計・作成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45536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0723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自動挨拶メッセージ設定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48456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5753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ステップ配信シナリオ設計（5〜8通）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51376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0782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無料相談予約フロー構築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654296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5811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セグメント配信設定（旅館 / 飲食 / 承継検討）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417320"/>
            <a:ext cx="5925312" cy="4297680"/>
          </a:xfrm>
          <a:prstGeom prst="rect">
            <a:avLst/>
          </a:prstGeom>
          <a:solidFill>
            <a:srgbClr val="182618"/>
          </a:solidFill>
          <a:ln w="127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554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Yu Gothic"/>
              </a:rPr>
              <a:t>LINE広告 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D4AF7A"/>
                </a:solidFill>
                <a:latin typeface="Yu Mincho"/>
              </a:rPr>
              <a:t>年間 60万円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423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070"/>
                </a:solidFill>
                <a:latin typeface="Yu Gothic"/>
              </a:rPr>
              <a:t>（広告費実費 / 全プラン共通）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80944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9077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ターゲティング設定（旅館・飲食経営者層）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483864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34107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クリエイティブ制作（バナー・テキスト）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86784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9136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A/Bテスト実施・最適化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489704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4165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月次広告レポート（CPL・CPAを追跡）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992624"/>
            <a:ext cx="731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9194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5B8"/>
                </a:solidFill>
                <a:latin typeface="Yu Gothic"/>
              </a:rPr>
              <a:t>LINE登録後のナーチャリング連携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833872"/>
            <a:ext cx="11731752" cy="841248"/>
          </a:xfrm>
          <a:prstGeom prst="rect">
            <a:avLst/>
          </a:prstGeom>
          <a:solidFill>
            <a:srgbClr val="182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SERVICE DETAIL 03 -- ブランディング戦略支援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Yu Mincho"/>
              </a:rPr>
              <a:t>ブランディング戦略支援の内容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440680" cy="1920240"/>
          </a:xfrm>
          <a:prstGeom prst="rect">
            <a:avLst/>
          </a:prstGeom>
          <a:solidFill>
            <a:srgbClr val="22201C"/>
          </a:solidFill>
          <a:ln w="6350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040"/>
                </a:solidFill>
                <a:latin typeface="Yu Minch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7A"/>
                </a:solidFill>
                <a:latin typeface="Yu Gothic"/>
              </a:rPr>
              <a:t>ブランドコンセプト設計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617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キャッチコピー・差別化軸・ブランドストーリーの言語化
「なぜ小野氏に頼むべきか」を一言で言えるレベルに落とし込む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17320"/>
            <a:ext cx="5440680" cy="1920240"/>
          </a:xfrm>
          <a:prstGeom prst="rect">
            <a:avLst/>
          </a:prstGeom>
          <a:solidFill>
            <a:srgbClr val="22201C"/>
          </a:solidFill>
          <a:ln w="6350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040"/>
                </a:solidFill>
                <a:latin typeface="Yu Minch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7A"/>
                </a:solidFill>
                <a:latin typeface="Yu Gothic"/>
              </a:rPr>
              <a:t>プロフィール・権威付けコンテンツ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20240"/>
            <a:ext cx="4617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バイオグラフィ制作・実績の数字化・メディア露出戦略
LP掲載用ケーススタディのフォーマット化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520440"/>
            <a:ext cx="5440680" cy="1920240"/>
          </a:xfrm>
          <a:prstGeom prst="rect">
            <a:avLst/>
          </a:prstGeom>
          <a:solidFill>
            <a:srgbClr val="22201C"/>
          </a:solidFill>
          <a:ln w="6350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6301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040"/>
                </a:solidFill>
                <a:latin typeface="Yu Minch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7A"/>
                </a:solidFill>
                <a:latin typeface="Yu Gothic"/>
              </a:rPr>
              <a:t>発信コンテンツカレンダー設計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4617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何を・いつ・どこで発信するかを3ヶ月単位で設計
Instagram / note / セミナー を統合したテーマ管理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520440"/>
            <a:ext cx="5440680" cy="1920240"/>
          </a:xfrm>
          <a:prstGeom prst="rect">
            <a:avLst/>
          </a:prstGeom>
          <a:solidFill>
            <a:srgbClr val="22201C"/>
          </a:solidFill>
          <a:ln w="6350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0760" y="36301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040"/>
                </a:solidFill>
                <a:latin typeface="Yu Minch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5760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7A"/>
                </a:solidFill>
                <a:latin typeface="Yu Gothic"/>
              </a:rPr>
              <a:t>セミナー・登壇プランニング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023360"/>
            <a:ext cx="4617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商工会・観光協会・金融機関との連携による登壇機会の創出
年2〜4回の無料セミナー設計（認知→LINE登録への導線）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532120"/>
            <a:ext cx="11155680" cy="1097280"/>
          </a:xfrm>
          <a:prstGeom prst="rect">
            <a:avLst/>
          </a:prstGeom>
          <a:solidFill>
            <a:srgbClr val="22201C"/>
          </a:solidFill>
          <a:ln w="6350">
            <a:solidFill>
              <a:srgbClr val="B89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6418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040"/>
                </a:solidFill>
                <a:latin typeface="Yu Minch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908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7A"/>
                </a:solidFill>
                <a:latin typeface="Yu Gothic"/>
              </a:rPr>
              <a:t>競合モニタリング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03504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類似コンサルタントの動向把握・差別化ポイントの継続確認
四半期ごとにポジショニングを見直し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SERVICE DETAIL 04 -- 月次マーケ支援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Yu Mincho"/>
              </a:rPr>
              <a:t>月次マーケティング支援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295"/>
                </a:solidFill>
                <a:latin typeface="Yu Gothic"/>
              </a:rPr>
              <a:t>Google Analytics / Search Console の計測 + Web広告の運用成果を月次で分析・報告します。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74519"/>
            <a:ext cx="11731752" cy="129844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874519"/>
            <a:ext cx="91440" cy="12984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8424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Google Analytics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86583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LP訪問者数・流入経路・行動フロー・CVR を計測
Goal設定（無料相談フォーム送信）の追跡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291839"/>
            <a:ext cx="11731752" cy="129844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3291839"/>
            <a:ext cx="91440" cy="129844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40156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Google Search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03903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検索クエリ・表示順位・CTR の可視化
SEOキーワードの改善機会を月次で特定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709159"/>
            <a:ext cx="11731752" cy="129844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4709159"/>
            <a:ext cx="91440" cy="1298448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81888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Yu Gothic"/>
              </a:rPr>
              <a:t>Web広告（LINE</a:t>
            </a:r>
            <a:r>
              <a:rPr sz="1300" b="1" dirty="0">
                <a:solidFill>
                  <a:srgbClr val="FFFFFF"/>
                </a:solidFill>
                <a:latin typeface="Yu Gothic"/>
              </a:rPr>
              <a:t> / Google / Meta）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21223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広告インプレッション・CTR・CPL（1件当たりLINE登録コスト）
月次予算配分の最適化提案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6199632"/>
            <a:ext cx="11731752" cy="512064"/>
          </a:xfrm>
          <a:prstGeom prst="rect">
            <a:avLst/>
          </a:prstGeom>
          <a:solidFill>
            <a:srgbClr val="18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291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86C1"/>
                </a:solidFill>
                <a:latin typeface="Yu Gothic"/>
              </a:rPr>
              <a:t>月次レポートのアウトプット：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629107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KPIダッシュボード（1枚）  /  改善提案（3点）  /  翌月アクションプラン（1枚）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SERVICE DETAIL 05 -- SNS動画制作・運用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Yu Mincho"/>
              </a:rPr>
              <a:t>SNS動画制作・運用代行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F7A"/>
                </a:solidFill>
                <a:latin typeface="Yu Gothic"/>
              </a:rPr>
              <a:t>スタンダード・プレミアムプランに含みます　追加費用：100万円/年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74519"/>
            <a:ext cx="2788920" cy="2377440"/>
          </a:xfrm>
          <a:prstGeom prst="rect">
            <a:avLst/>
          </a:prstGeom>
          <a:solidFill>
            <a:srgbClr val="8B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SHOOT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50592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Yu Gothic"/>
              </a:rPr>
              <a:t>現地撮影
60分 / 月1回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8892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048"/>
                </a:solidFill>
                <a:latin typeface="Yu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874519"/>
            <a:ext cx="2788920" cy="2377440"/>
          </a:xfrm>
          <a:prstGeom prst="rect">
            <a:avLst/>
          </a:prstGeom>
          <a:solidFill>
            <a:srgbClr val="6B2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64408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450592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Yu Gothic"/>
              </a:rPr>
              <a:t>動画編集
月8本×1分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278892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048"/>
                </a:solidFill>
                <a:latin typeface="Yu Gothic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5896" y="1874519"/>
            <a:ext cx="2788920" cy="2377440"/>
          </a:xfrm>
          <a:prstGeom prst="rect">
            <a:avLst/>
          </a:prstGeom>
          <a:solidFill>
            <a:srgbClr val="1A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3056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450592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Yu Gothic"/>
              </a:rPr>
              <a:t>SNS 投稿
Instagram / YouTube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278892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048"/>
                </a:solidFill>
                <a:latin typeface="Yu Gothic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4544" y="1874519"/>
            <a:ext cx="2788920" cy="23774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61704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2450592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Yu Gothic"/>
              </a:rPr>
              <a:t>月次分析
再生数・フォロワー推移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434840"/>
            <a:ext cx="1280160" cy="475488"/>
          </a:xfrm>
          <a:prstGeom prst="rect">
            <a:avLst/>
          </a:prstGeom>
          <a:solidFill>
            <a:srgbClr val="8B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" y="4526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撮影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434840"/>
            <a:ext cx="10405872" cy="47548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19072" y="449884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5B8"/>
                </a:solidFill>
                <a:latin typeface="Yu Gothic"/>
              </a:rPr>
              <a:t>月1回・60分の素材撮影（現地または リモート収録）
撮影テーマは月次コンテンツカレンダーに基づき事前設計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983480"/>
            <a:ext cx="1280160" cy="475488"/>
          </a:xfrm>
          <a:prstGeom prst="rect">
            <a:avLst/>
          </a:prstGeom>
          <a:solidFill>
            <a:srgbClr val="8B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8600" y="5074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制作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983480"/>
            <a:ext cx="10405872" cy="47548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19072" y="50474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5B8"/>
                </a:solidFill>
                <a:latin typeface="Yu Gothic"/>
              </a:rPr>
              <a:t>60分素材から月8本の1分Shorts動画を編集
テロップ・BGM・サムネイル制作を含む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532120"/>
            <a:ext cx="1280160" cy="475488"/>
          </a:xfrm>
          <a:prstGeom prst="rect">
            <a:avLst/>
          </a:prstGeom>
          <a:solidFill>
            <a:srgbClr val="8B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" y="5623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投稿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532120"/>
            <a:ext cx="10405872" cy="47548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19072" y="55961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5B8"/>
                </a:solidFill>
                <a:latin typeface="Yu Gothic"/>
              </a:rPr>
              <a:t>Instagram Reels / YouTube Shorts へ最適化して投稿代行
ハッシュタグ・説明文・ベストタイム投稿を管理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6080760"/>
            <a:ext cx="1280160" cy="475488"/>
          </a:xfrm>
          <a:prstGeom prst="rect">
            <a:avLst/>
          </a:prstGeom>
          <a:solidFill>
            <a:srgbClr val="8B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" y="61722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効果測定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6080760"/>
            <a:ext cx="10405872" cy="475488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19072" y="61447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5B8"/>
                </a:solidFill>
                <a:latin typeface="Yu Gothic"/>
              </a:rPr>
              <a:t>再生回数・保存数・プロフィールへの流入数・フォロワー増加を月次報告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935A"/>
                </a:solidFill>
                <a:latin typeface="Yu Gothic"/>
              </a:rPr>
              <a:t>SERVICE DETAIL 06 -- AI活用・自動ブログ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Yu Mincho"/>
              </a:rPr>
              <a:t>AI活用・自動ブログ実装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92608" cy="22860"/>
          </a:xfrm>
          <a:prstGeom prst="rect">
            <a:avLst/>
          </a:prstGeom>
          <a:solidFill>
            <a:srgbClr val="B89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99FF"/>
                </a:solidFill>
                <a:latin typeface="Yu Gothic"/>
              </a:rPr>
              <a:t>プレミアムプランに含みます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28800"/>
            <a:ext cx="3474720" cy="1554480"/>
          </a:xfrm>
          <a:prstGeom prst="rect">
            <a:avLst/>
          </a:prstGeom>
          <a:solidFill>
            <a:srgbClr val="24293E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GitHub Actions
（定期実行）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37744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5CF6"/>
                </a:solidFill>
                <a:latin typeface="Yu Gothic"/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40" y="1828800"/>
            <a:ext cx="3474720" cy="1554480"/>
          </a:xfrm>
          <a:prstGeom prst="rect">
            <a:avLst/>
          </a:prstGeom>
          <a:solidFill>
            <a:srgbClr val="2D1F4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224028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AI（Claude API）
記事自動生成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37744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5CF6"/>
                </a:solidFill>
                <a:latin typeface="Yu Gothic"/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80" y="1828800"/>
            <a:ext cx="3474720" cy="1554480"/>
          </a:xfrm>
          <a:prstGeom prst="rect">
            <a:avLst/>
          </a:prstGeom>
          <a:solidFill>
            <a:srgbClr val="1A2A1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224028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LP ブログページ
自動公開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547872"/>
            <a:ext cx="11731752" cy="694944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3547872"/>
            <a:ext cx="91440" cy="6949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6210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99FF"/>
                </a:solidFill>
                <a:latin typeface="Yu Gothic"/>
              </a:rPr>
              <a:t>自動ブログの仕組み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602736"/>
            <a:ext cx="79552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GitHub Actions のcron設定（週1〜2回）でAI APIを呼び出し、旅館・飲食業に関する
記事を自動生成。LPのブログセクションに自動投稿します。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315968"/>
            <a:ext cx="11731752" cy="694944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" y="4315968"/>
            <a:ext cx="91440" cy="6949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99FF"/>
                </a:solidFill>
                <a:latin typeface="Yu Gothic"/>
              </a:rPr>
              <a:t>生成コンテンツのテーマ例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370832"/>
            <a:ext cx="79552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観光DXの最新動向 / 補助金・助成金情報 / 事業承継の事例 / 旅館集客Tipsなど
小野氏の専門性に沿ったトピックでSEO効果を狙います。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084064"/>
            <a:ext cx="11731752" cy="694944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" y="5084064"/>
            <a:ext cx="91440" cy="6949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157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99FF"/>
                </a:solidFill>
                <a:latin typeface="Yu Gothic"/>
              </a:rPr>
              <a:t>ブログ機能の仕様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138928"/>
            <a:ext cx="79552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LPに新セクション追加（Markdown対応）/ RSS配信対応 / 記事一覧・詳細ページ
GitHub上で手動追記・編集も可能なシンプル構成。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5852160"/>
            <a:ext cx="11731752" cy="694944"/>
          </a:xfrm>
          <a:prstGeom prst="rect">
            <a:avLst/>
          </a:prstGeom>
          <a:solidFill>
            <a:srgbClr val="22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8600" y="5852160"/>
            <a:ext cx="91440" cy="6949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925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99FF"/>
                </a:solidFill>
                <a:latin typeface="Yu Gothic"/>
              </a:rPr>
              <a:t>期待効果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907024"/>
            <a:ext cx="79552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295"/>
                </a:solidFill>
                <a:latin typeface="Yu Gothic"/>
              </a:rPr>
              <a:t>継続的なコンテンツ更新によるSEO改善 / 専門家としての権威付け強化
更新の手間ゼロで「情報を発信し続ける専門家」としてのブランドを維持。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849</Words>
  <Application>Microsoft Office PowerPoint</Application>
  <PresentationFormat>ユーザー設定</PresentationFormat>
  <Paragraphs>212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游ゴシック</vt:lpstr>
      <vt:lpstr>游ゴシック</vt:lpstr>
      <vt:lpstr>游明朝</vt:lpstr>
      <vt:lpstr>游明朝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寛文 鵜木</cp:lastModifiedBy>
  <cp:revision>3</cp:revision>
  <dcterms:created xsi:type="dcterms:W3CDTF">2013-01-27T09:14:16Z</dcterms:created>
  <dcterms:modified xsi:type="dcterms:W3CDTF">2026-05-06T06:03:28Z</dcterms:modified>
  <cp:category/>
</cp:coreProperties>
</file>